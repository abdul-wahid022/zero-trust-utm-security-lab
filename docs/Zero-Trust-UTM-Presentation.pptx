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314" r:id="rId3"/>
    <p:sldId id="286" r:id="rId4"/>
    <p:sldId id="287" r:id="rId5"/>
    <p:sldId id="288" r:id="rId6"/>
    <p:sldId id="336" r:id="rId7"/>
    <p:sldId id="294" r:id="rId8"/>
    <p:sldId id="295" r:id="rId9"/>
    <p:sldId id="296" r:id="rId10"/>
    <p:sldId id="297" r:id="rId11"/>
    <p:sldId id="298" r:id="rId12"/>
    <p:sldId id="299" r:id="rId13"/>
    <p:sldId id="301" r:id="rId14"/>
    <p:sldId id="302" r:id="rId15"/>
    <p:sldId id="303" r:id="rId16"/>
    <p:sldId id="304" r:id="rId17"/>
    <p:sldId id="312" r:id="rId18"/>
    <p:sldId id="313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289" r:id="rId27"/>
    <p:sldId id="290" r:id="rId28"/>
    <p:sldId id="273" r:id="rId29"/>
    <p:sldId id="285" r:id="rId30"/>
    <p:sldId id="275" r:id="rId31"/>
    <p:sldId id="274" r:id="rId32"/>
    <p:sldId id="276" r:id="rId33"/>
    <p:sldId id="292" r:id="rId34"/>
    <p:sldId id="281" r:id="rId35"/>
    <p:sldId id="279" r:id="rId36"/>
    <p:sldId id="280" r:id="rId37"/>
    <p:sldId id="282" r:id="rId38"/>
    <p:sldId id="283" r:id="rId39"/>
    <p:sldId id="284" r:id="rId40"/>
    <p:sldId id="293" r:id="rId41"/>
    <p:sldId id="315" r:id="rId42"/>
    <p:sldId id="316" r:id="rId43"/>
    <p:sldId id="317" r:id="rId44"/>
    <p:sldId id="318" r:id="rId45"/>
    <p:sldId id="319" r:id="rId46"/>
    <p:sldId id="320" r:id="rId47"/>
    <p:sldId id="291" r:id="rId48"/>
    <p:sldId id="321" r:id="rId49"/>
    <p:sldId id="322" r:id="rId50"/>
    <p:sldId id="323" r:id="rId51"/>
    <p:sldId id="324" r:id="rId52"/>
    <p:sldId id="329" r:id="rId53"/>
    <p:sldId id="325" r:id="rId54"/>
    <p:sldId id="262" r:id="rId55"/>
    <p:sldId id="331" r:id="rId56"/>
    <p:sldId id="332" r:id="rId57"/>
    <p:sldId id="327" r:id="rId58"/>
    <p:sldId id="326" r:id="rId59"/>
    <p:sldId id="333" r:id="rId60"/>
    <p:sldId id="335" r:id="rId61"/>
    <p:sldId id="263" r:id="rId62"/>
    <p:sldId id="271" r:id="rId63"/>
    <p:sldId id="264" r:id="rId64"/>
    <p:sldId id="272" r:id="rId65"/>
    <p:sldId id="328" r:id="rId66"/>
    <p:sldId id="337" r:id="rId67"/>
    <p:sldId id="265" r:id="rId68"/>
    <p:sldId id="266" r:id="rId69"/>
    <p:sldId id="267" r:id="rId70"/>
    <p:sldId id="268" r:id="rId71"/>
  </p:sldIdLst>
  <p:sldSz cx="16256000" cy="9144000"/>
  <p:notesSz cx="9144000" cy="16256000"/>
  <p:embeddedFontLst>
    <p:embeddedFont>
      <p:font typeface="Aharoni" panose="02010803020104030203" pitchFamily="2" charset="-79"/>
      <p:bold r:id="rId73"/>
    </p:embeddedFont>
    <p:embeddedFont>
      <p:font typeface="Book Antiqua" panose="02040602050305030304" pitchFamily="18" charset="0"/>
      <p:regular r:id="rId74"/>
      <p:bold r:id="rId75"/>
      <p:italic r:id="rId76"/>
      <p:boldItalic r:id="rId77"/>
    </p:embeddedFont>
    <p:embeddedFont>
      <p:font typeface="Eras Bold ITC" panose="020B0907030504020204" pitchFamily="34" charset="0"/>
      <p:regular r:id="rId78"/>
    </p:embeddedFont>
    <p:embeddedFont>
      <p:font typeface="Hadassah Friedlaender" panose="02020603050405020304" pitchFamily="18" charset="-79"/>
      <p:regular r:id="rId79"/>
      <p:bold r:id="rId80"/>
    </p:embeddedFont>
    <p:embeddedFont>
      <p:font typeface="TT Fors Bold" panose="020B0604020202020204" charset="0"/>
      <p:regular r:id="rId81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45" autoAdjust="0"/>
    <p:restoredTop sz="94049" autoAdjust="0"/>
  </p:normalViewPr>
  <p:slideViewPr>
    <p:cSldViewPr snapToGrid="0" snapToObjects="1">
      <p:cViewPr varScale="1">
        <p:scale>
          <a:sx n="52" d="100"/>
          <a:sy n="52" d="100"/>
        </p:scale>
        <p:origin x="2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8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52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94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5A37-30F8-E874-7A1D-4AD2A7F4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8DE14-BEB2-3922-0094-0BDC7CB27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1DF4F-FD84-A3CD-9C9B-EAF7BCC12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04F9-27C2-AA06-6197-B1BBA2B71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20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94A5-96F0-ADA4-14B0-F925CE36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E1C77-3CFC-1365-35F4-4B3CCADBD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E3A54-802E-665F-2C31-6C527A128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59013-9547-B841-BFC5-144A6CFE7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8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4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jpeg"/><Relationship Id="rId4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101.png"/><Relationship Id="rId2" Type="http://schemas.openxmlformats.org/officeDocument/2006/relationships/image" Target="../media/image9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image" Target="../media/image99.svg"/><Relationship Id="rId4" Type="http://schemas.openxmlformats.org/officeDocument/2006/relationships/image" Target="../media/image9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sv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jpg"/><Relationship Id="rId4" Type="http://schemas.openxmlformats.org/officeDocument/2006/relationships/image" Target="../media/image1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jpg"/><Relationship Id="rId3" Type="http://schemas.openxmlformats.org/officeDocument/2006/relationships/image" Target="../media/image131.png"/><Relationship Id="rId7" Type="http://schemas.openxmlformats.org/officeDocument/2006/relationships/image" Target="../media/image1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jp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5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0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489D60A-4320-F1F3-95E3-ED1F02E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58"/>
            <a:ext cx="16259695" cy="91988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3000" y="1524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CADCFC"/>
          </a:solidFill>
          <a:ln/>
        </p:spPr>
        <p:txBody>
          <a:bodyPr/>
          <a:lstStyle/>
          <a:p>
            <a:endParaRPr lang="en-PK">
              <a:latin typeface="Eras Bold ITC" panose="020B0907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77800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Eras Bold ITC" panose="020B0907030504020204" pitchFamily="34" charset="0"/>
                <a:ea typeface="QuattrocentoSans" pitchFamily="34" charset="-122"/>
                <a:cs typeface="QuattrocentoSans" pitchFamily="34" charset="-120"/>
              </a:rPr>
              <a:t>Zero Trust UTM</a:t>
            </a:r>
            <a:endParaRPr lang="en-US" sz="4400" dirty="0">
              <a:latin typeface="Eras Bold ITC" panose="020B0907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13000" y="3937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CADCFC"/>
                </a:solidFill>
                <a:latin typeface="Eras Bold ITC" panose="020B0907030504020204" pitchFamily="34" charset="0"/>
                <a:ea typeface="QuattrocentoSans" pitchFamily="34" charset="-122"/>
                <a:cs typeface="QuattrocentoSans" pitchFamily="34" charset="-120"/>
              </a:rPr>
              <a:t>Enterprise-Grade 5-Machine Cybersecurity Infrastructure</a:t>
            </a:r>
            <a:endParaRPr lang="en-US" sz="2000" dirty="0">
              <a:latin typeface="Eras Bold ITC" panose="020B0907030504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9D7D20-AF14-2B7A-287D-AD41EA1045FF}"/>
              </a:ext>
            </a:extLst>
          </p:cNvPr>
          <p:cNvGrpSpPr/>
          <p:nvPr/>
        </p:nvGrpSpPr>
        <p:grpSpPr>
          <a:xfrm>
            <a:off x="3962400" y="4635905"/>
            <a:ext cx="8331200" cy="1104900"/>
            <a:chOff x="3111500" y="4953000"/>
            <a:chExt cx="8331200" cy="1104900"/>
          </a:xfrm>
        </p:grpSpPr>
        <p:sp>
          <p:nvSpPr>
            <p:cNvPr id="6" name="Shape 3"/>
            <p:cNvSpPr/>
            <p:nvPr/>
          </p:nvSpPr>
          <p:spPr>
            <a:xfrm>
              <a:off x="3365500" y="4953000"/>
              <a:ext cx="711200" cy="711200"/>
            </a:xfrm>
            <a:prstGeom prst="ellipse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7" name="Shape 4"/>
            <p:cNvSpPr/>
            <p:nvPr/>
          </p:nvSpPr>
          <p:spPr>
            <a:xfrm>
              <a:off x="3521075" y="5130800"/>
              <a:ext cx="400050" cy="355600"/>
            </a:xfrm>
            <a:custGeom>
              <a:avLst/>
              <a:gdLst/>
              <a:ahLst/>
              <a:cxnLst/>
              <a:rect l="l" t="t" r="r" b="b"/>
              <a:pathLst>
                <a:path w="400050" h="355600">
                  <a:moveTo>
                    <a:pt x="172244" y="61119"/>
                  </a:moveTo>
                  <a:lnTo>
                    <a:pt x="227806" y="61119"/>
                  </a:lnTo>
                  <a:lnTo>
                    <a:pt x="227806" y="94456"/>
                  </a:lnTo>
                  <a:lnTo>
                    <a:pt x="172244" y="94456"/>
                  </a:lnTo>
                  <a:lnTo>
                    <a:pt x="172244" y="61119"/>
                  </a:lnTo>
                  <a:close/>
                  <a:moveTo>
                    <a:pt x="166688" y="22225"/>
                  </a:moveTo>
                  <a:cubicBezTo>
                    <a:pt x="148282" y="22225"/>
                    <a:pt x="133350" y="37157"/>
                    <a:pt x="133350" y="55563"/>
                  </a:cubicBezTo>
                  <a:lnTo>
                    <a:pt x="133350" y="100013"/>
                  </a:lnTo>
                  <a:cubicBezTo>
                    <a:pt x="133350" y="118418"/>
                    <a:pt x="148282" y="133350"/>
                    <a:pt x="166688" y="133350"/>
                  </a:cubicBezTo>
                  <a:lnTo>
                    <a:pt x="177800" y="133350"/>
                  </a:lnTo>
                  <a:lnTo>
                    <a:pt x="177800" y="155575"/>
                  </a:lnTo>
                  <a:lnTo>
                    <a:pt x="22225" y="155575"/>
                  </a:lnTo>
                  <a:cubicBezTo>
                    <a:pt x="9932" y="155575"/>
                    <a:pt x="0" y="165507"/>
                    <a:pt x="0" y="177800"/>
                  </a:cubicBezTo>
                  <a:cubicBezTo>
                    <a:pt x="0" y="190093"/>
                    <a:pt x="9932" y="200025"/>
                    <a:pt x="22225" y="200025"/>
                  </a:cubicBezTo>
                  <a:lnTo>
                    <a:pt x="88900" y="200025"/>
                  </a:lnTo>
                  <a:lnTo>
                    <a:pt x="88900" y="222250"/>
                  </a:lnTo>
                  <a:lnTo>
                    <a:pt x="77788" y="222250"/>
                  </a:lnTo>
                  <a:cubicBezTo>
                    <a:pt x="59382" y="222250"/>
                    <a:pt x="44450" y="237182"/>
                    <a:pt x="44450" y="255587"/>
                  </a:cubicBezTo>
                  <a:lnTo>
                    <a:pt x="44450" y="300038"/>
                  </a:lnTo>
                  <a:cubicBezTo>
                    <a:pt x="44450" y="318443"/>
                    <a:pt x="59382" y="333375"/>
                    <a:pt x="77788" y="333375"/>
                  </a:cubicBezTo>
                  <a:lnTo>
                    <a:pt x="144463" y="333375"/>
                  </a:lnTo>
                  <a:cubicBezTo>
                    <a:pt x="162868" y="333375"/>
                    <a:pt x="177800" y="318443"/>
                    <a:pt x="177800" y="300038"/>
                  </a:cubicBezTo>
                  <a:lnTo>
                    <a:pt x="177800" y="255587"/>
                  </a:lnTo>
                  <a:cubicBezTo>
                    <a:pt x="177800" y="237182"/>
                    <a:pt x="162868" y="222250"/>
                    <a:pt x="144463" y="222250"/>
                  </a:cubicBezTo>
                  <a:lnTo>
                    <a:pt x="133350" y="222250"/>
                  </a:lnTo>
                  <a:lnTo>
                    <a:pt x="133350" y="200025"/>
                  </a:lnTo>
                  <a:lnTo>
                    <a:pt x="266700" y="200025"/>
                  </a:lnTo>
                  <a:lnTo>
                    <a:pt x="266700" y="222250"/>
                  </a:lnTo>
                  <a:lnTo>
                    <a:pt x="255587" y="222250"/>
                  </a:lnTo>
                  <a:cubicBezTo>
                    <a:pt x="237182" y="222250"/>
                    <a:pt x="222250" y="237182"/>
                    <a:pt x="222250" y="255587"/>
                  </a:cubicBezTo>
                  <a:lnTo>
                    <a:pt x="222250" y="300038"/>
                  </a:lnTo>
                  <a:cubicBezTo>
                    <a:pt x="222250" y="318443"/>
                    <a:pt x="237182" y="333375"/>
                    <a:pt x="255587" y="333375"/>
                  </a:cubicBezTo>
                  <a:lnTo>
                    <a:pt x="322263" y="333375"/>
                  </a:lnTo>
                  <a:cubicBezTo>
                    <a:pt x="340668" y="333375"/>
                    <a:pt x="355600" y="318443"/>
                    <a:pt x="355600" y="300038"/>
                  </a:cubicBezTo>
                  <a:lnTo>
                    <a:pt x="355600" y="255587"/>
                  </a:lnTo>
                  <a:cubicBezTo>
                    <a:pt x="355600" y="237182"/>
                    <a:pt x="340668" y="222250"/>
                    <a:pt x="322263" y="222250"/>
                  </a:cubicBezTo>
                  <a:lnTo>
                    <a:pt x="311150" y="222250"/>
                  </a:lnTo>
                  <a:lnTo>
                    <a:pt x="311150" y="200025"/>
                  </a:lnTo>
                  <a:lnTo>
                    <a:pt x="377825" y="200025"/>
                  </a:lnTo>
                  <a:cubicBezTo>
                    <a:pt x="390118" y="200025"/>
                    <a:pt x="400050" y="190093"/>
                    <a:pt x="400050" y="177800"/>
                  </a:cubicBezTo>
                  <a:cubicBezTo>
                    <a:pt x="400050" y="165507"/>
                    <a:pt x="390118" y="155575"/>
                    <a:pt x="377825" y="155575"/>
                  </a:cubicBezTo>
                  <a:lnTo>
                    <a:pt x="222250" y="155575"/>
                  </a:lnTo>
                  <a:lnTo>
                    <a:pt x="222250" y="133350"/>
                  </a:lnTo>
                  <a:lnTo>
                    <a:pt x="233363" y="133350"/>
                  </a:lnTo>
                  <a:cubicBezTo>
                    <a:pt x="251768" y="133350"/>
                    <a:pt x="266700" y="118418"/>
                    <a:pt x="266700" y="100013"/>
                  </a:cubicBezTo>
                  <a:lnTo>
                    <a:pt x="266700" y="55563"/>
                  </a:lnTo>
                  <a:cubicBezTo>
                    <a:pt x="266700" y="37157"/>
                    <a:pt x="251768" y="22225"/>
                    <a:pt x="233363" y="22225"/>
                  </a:cubicBezTo>
                  <a:lnTo>
                    <a:pt x="166688" y="22225"/>
                  </a:lnTo>
                  <a:close/>
                  <a:moveTo>
                    <a:pt x="311150" y="261144"/>
                  </a:moveTo>
                  <a:lnTo>
                    <a:pt x="316706" y="261144"/>
                  </a:lnTo>
                  <a:lnTo>
                    <a:pt x="316706" y="294481"/>
                  </a:lnTo>
                  <a:lnTo>
                    <a:pt x="261144" y="294481"/>
                  </a:lnTo>
                  <a:lnTo>
                    <a:pt x="261144" y="261144"/>
                  </a:lnTo>
                  <a:lnTo>
                    <a:pt x="311150" y="261144"/>
                  </a:lnTo>
                  <a:close/>
                  <a:moveTo>
                    <a:pt x="133350" y="261144"/>
                  </a:moveTo>
                  <a:lnTo>
                    <a:pt x="138906" y="261144"/>
                  </a:lnTo>
                  <a:lnTo>
                    <a:pt x="138906" y="294481"/>
                  </a:lnTo>
                  <a:lnTo>
                    <a:pt x="83344" y="294481"/>
                  </a:lnTo>
                  <a:lnTo>
                    <a:pt x="83344" y="261144"/>
                  </a:lnTo>
                  <a:lnTo>
                    <a:pt x="133350" y="261144"/>
                  </a:lnTo>
                  <a:close/>
                </a:path>
              </a:pathLst>
            </a:custGeom>
            <a:solidFill>
              <a:srgbClr val="1E2761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5143500" y="4953000"/>
              <a:ext cx="711200" cy="711200"/>
            </a:xfrm>
            <a:prstGeom prst="ellipse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5299075" y="5130800"/>
              <a:ext cx="400050" cy="355600"/>
            </a:xfrm>
            <a:custGeom>
              <a:avLst/>
              <a:gdLst/>
              <a:ahLst/>
              <a:cxnLst/>
              <a:rect l="l" t="t" r="r" b="b"/>
              <a:pathLst>
                <a:path w="400050" h="355600">
                  <a:moveTo>
                    <a:pt x="0" y="66675"/>
                  </a:moveTo>
                  <a:cubicBezTo>
                    <a:pt x="0" y="42158"/>
                    <a:pt x="19933" y="22225"/>
                    <a:pt x="44450" y="22225"/>
                  </a:cubicBezTo>
                  <a:lnTo>
                    <a:pt x="355600" y="22225"/>
                  </a:lnTo>
                  <a:cubicBezTo>
                    <a:pt x="380117" y="22225"/>
                    <a:pt x="400050" y="42158"/>
                    <a:pt x="400050" y="66675"/>
                  </a:cubicBezTo>
                  <a:lnTo>
                    <a:pt x="0" y="66675"/>
                  </a:lnTo>
                  <a:close/>
                  <a:moveTo>
                    <a:pt x="0" y="100013"/>
                  </a:moveTo>
                  <a:lnTo>
                    <a:pt x="400050" y="100013"/>
                  </a:lnTo>
                  <a:lnTo>
                    <a:pt x="400050" y="288925"/>
                  </a:lnTo>
                  <a:cubicBezTo>
                    <a:pt x="400050" y="313442"/>
                    <a:pt x="380117" y="333375"/>
                    <a:pt x="355600" y="333375"/>
                  </a:cubicBezTo>
                  <a:lnTo>
                    <a:pt x="44450" y="333375"/>
                  </a:lnTo>
                  <a:cubicBezTo>
                    <a:pt x="19933" y="333375"/>
                    <a:pt x="0" y="313442"/>
                    <a:pt x="0" y="288925"/>
                  </a:cubicBezTo>
                  <a:lnTo>
                    <a:pt x="0" y="100013"/>
                  </a:lnTo>
                  <a:close/>
                  <a:moveTo>
                    <a:pt x="171758" y="288925"/>
                  </a:moveTo>
                  <a:cubicBezTo>
                    <a:pt x="185787" y="288925"/>
                    <a:pt x="196275" y="275451"/>
                    <a:pt x="187315" y="264616"/>
                  </a:cubicBezTo>
                  <a:cubicBezTo>
                    <a:pt x="177105" y="252323"/>
                    <a:pt x="161687" y="244475"/>
                    <a:pt x="144463" y="244475"/>
                  </a:cubicBezTo>
                  <a:lnTo>
                    <a:pt x="100013" y="244475"/>
                  </a:lnTo>
                  <a:cubicBezTo>
                    <a:pt x="82788" y="244475"/>
                    <a:pt x="67370" y="252323"/>
                    <a:pt x="57160" y="264616"/>
                  </a:cubicBezTo>
                  <a:cubicBezTo>
                    <a:pt x="48200" y="275451"/>
                    <a:pt x="58688" y="288925"/>
                    <a:pt x="72717" y="288925"/>
                  </a:cubicBezTo>
                  <a:lnTo>
                    <a:pt x="171688" y="288925"/>
                  </a:lnTo>
                  <a:close/>
                  <a:moveTo>
                    <a:pt x="122238" y="216694"/>
                  </a:moveTo>
                  <a:cubicBezTo>
                    <a:pt x="143704" y="216694"/>
                    <a:pt x="161131" y="199266"/>
                    <a:pt x="161131" y="177800"/>
                  </a:cubicBezTo>
                  <a:cubicBezTo>
                    <a:pt x="161131" y="156334"/>
                    <a:pt x="143704" y="138906"/>
                    <a:pt x="122238" y="138906"/>
                  </a:cubicBezTo>
                  <a:cubicBezTo>
                    <a:pt x="100771" y="138906"/>
                    <a:pt x="83344" y="156334"/>
                    <a:pt x="83344" y="177800"/>
                  </a:cubicBezTo>
                  <a:cubicBezTo>
                    <a:pt x="83344" y="199266"/>
                    <a:pt x="100771" y="216694"/>
                    <a:pt x="122238" y="216694"/>
                  </a:cubicBezTo>
                  <a:close/>
                  <a:moveTo>
                    <a:pt x="250031" y="144463"/>
                  </a:moveTo>
                  <a:cubicBezTo>
                    <a:pt x="240794" y="144463"/>
                    <a:pt x="233363" y="151894"/>
                    <a:pt x="233363" y="161131"/>
                  </a:cubicBezTo>
                  <a:cubicBezTo>
                    <a:pt x="233363" y="170369"/>
                    <a:pt x="240794" y="177800"/>
                    <a:pt x="250031" y="177800"/>
                  </a:cubicBezTo>
                  <a:lnTo>
                    <a:pt x="327819" y="177800"/>
                  </a:lnTo>
                  <a:cubicBezTo>
                    <a:pt x="337056" y="177800"/>
                    <a:pt x="344488" y="170369"/>
                    <a:pt x="344488" y="161131"/>
                  </a:cubicBezTo>
                  <a:cubicBezTo>
                    <a:pt x="344488" y="151894"/>
                    <a:pt x="337056" y="144463"/>
                    <a:pt x="327819" y="144463"/>
                  </a:cubicBezTo>
                  <a:lnTo>
                    <a:pt x="250031" y="144463"/>
                  </a:lnTo>
                  <a:close/>
                  <a:moveTo>
                    <a:pt x="250031" y="211138"/>
                  </a:moveTo>
                  <a:cubicBezTo>
                    <a:pt x="240794" y="211138"/>
                    <a:pt x="233363" y="218569"/>
                    <a:pt x="233363" y="227806"/>
                  </a:cubicBezTo>
                  <a:cubicBezTo>
                    <a:pt x="233363" y="237044"/>
                    <a:pt x="240794" y="244475"/>
                    <a:pt x="250031" y="244475"/>
                  </a:cubicBezTo>
                  <a:lnTo>
                    <a:pt x="327819" y="244475"/>
                  </a:lnTo>
                  <a:cubicBezTo>
                    <a:pt x="337056" y="244475"/>
                    <a:pt x="344488" y="237044"/>
                    <a:pt x="344488" y="227806"/>
                  </a:cubicBezTo>
                  <a:cubicBezTo>
                    <a:pt x="344488" y="218569"/>
                    <a:pt x="337056" y="211138"/>
                    <a:pt x="327819" y="211138"/>
                  </a:cubicBezTo>
                  <a:lnTo>
                    <a:pt x="250031" y="211138"/>
                  </a:lnTo>
                  <a:close/>
                </a:path>
              </a:pathLst>
            </a:custGeom>
            <a:solidFill>
              <a:srgbClr val="1E2761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6921500" y="4953000"/>
              <a:ext cx="711200" cy="711200"/>
            </a:xfrm>
            <a:prstGeom prst="ellipse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7099300" y="513080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83344" y="38894"/>
                  </a:moveTo>
                  <a:cubicBezTo>
                    <a:pt x="83344" y="17433"/>
                    <a:pt x="100776" y="0"/>
                    <a:pt x="122238" y="0"/>
                  </a:cubicBezTo>
                  <a:lnTo>
                    <a:pt x="138906" y="0"/>
                  </a:lnTo>
                  <a:cubicBezTo>
                    <a:pt x="151199" y="0"/>
                    <a:pt x="161131" y="9932"/>
                    <a:pt x="161131" y="22225"/>
                  </a:cubicBezTo>
                  <a:lnTo>
                    <a:pt x="161131" y="333375"/>
                  </a:lnTo>
                  <a:cubicBezTo>
                    <a:pt x="161131" y="345668"/>
                    <a:pt x="151199" y="355600"/>
                    <a:pt x="138906" y="355600"/>
                  </a:cubicBezTo>
                  <a:lnTo>
                    <a:pt x="116681" y="355600"/>
                  </a:lnTo>
                  <a:cubicBezTo>
                    <a:pt x="95984" y="355600"/>
                    <a:pt x="78551" y="341432"/>
                    <a:pt x="73620" y="322263"/>
                  </a:cubicBezTo>
                  <a:cubicBezTo>
                    <a:pt x="73134" y="322263"/>
                    <a:pt x="72717" y="322263"/>
                    <a:pt x="72231" y="322263"/>
                  </a:cubicBezTo>
                  <a:cubicBezTo>
                    <a:pt x="41533" y="322263"/>
                    <a:pt x="16669" y="297398"/>
                    <a:pt x="16669" y="266700"/>
                  </a:cubicBezTo>
                  <a:cubicBezTo>
                    <a:pt x="16669" y="254198"/>
                    <a:pt x="20836" y="242669"/>
                    <a:pt x="27781" y="233363"/>
                  </a:cubicBezTo>
                  <a:cubicBezTo>
                    <a:pt x="14307" y="223222"/>
                    <a:pt x="5556" y="207109"/>
                    <a:pt x="5556" y="188913"/>
                  </a:cubicBezTo>
                  <a:cubicBezTo>
                    <a:pt x="5556" y="167451"/>
                    <a:pt x="17780" y="148769"/>
                    <a:pt x="35560" y="139531"/>
                  </a:cubicBezTo>
                  <a:cubicBezTo>
                    <a:pt x="30629" y="131197"/>
                    <a:pt x="27781" y="121474"/>
                    <a:pt x="27781" y="111125"/>
                  </a:cubicBezTo>
                  <a:cubicBezTo>
                    <a:pt x="27781" y="80427"/>
                    <a:pt x="52645" y="55563"/>
                    <a:pt x="83344" y="55563"/>
                  </a:cubicBezTo>
                  <a:lnTo>
                    <a:pt x="83344" y="38894"/>
                  </a:lnTo>
                  <a:close/>
                  <a:moveTo>
                    <a:pt x="272256" y="38894"/>
                  </a:moveTo>
                  <a:lnTo>
                    <a:pt x="272256" y="55563"/>
                  </a:lnTo>
                  <a:cubicBezTo>
                    <a:pt x="302955" y="55563"/>
                    <a:pt x="327819" y="80427"/>
                    <a:pt x="327819" y="111125"/>
                  </a:cubicBezTo>
                  <a:cubicBezTo>
                    <a:pt x="327819" y="121543"/>
                    <a:pt x="324971" y="131266"/>
                    <a:pt x="320040" y="139531"/>
                  </a:cubicBezTo>
                  <a:cubicBezTo>
                    <a:pt x="337889" y="148769"/>
                    <a:pt x="350044" y="167382"/>
                    <a:pt x="350044" y="188913"/>
                  </a:cubicBezTo>
                  <a:cubicBezTo>
                    <a:pt x="350044" y="207109"/>
                    <a:pt x="341293" y="223222"/>
                    <a:pt x="327819" y="233363"/>
                  </a:cubicBezTo>
                  <a:cubicBezTo>
                    <a:pt x="334764" y="242669"/>
                    <a:pt x="338931" y="254198"/>
                    <a:pt x="338931" y="266700"/>
                  </a:cubicBezTo>
                  <a:cubicBezTo>
                    <a:pt x="338931" y="297398"/>
                    <a:pt x="314067" y="322263"/>
                    <a:pt x="283369" y="322263"/>
                  </a:cubicBezTo>
                  <a:cubicBezTo>
                    <a:pt x="282883" y="322263"/>
                    <a:pt x="282466" y="322263"/>
                    <a:pt x="281980" y="322263"/>
                  </a:cubicBezTo>
                  <a:cubicBezTo>
                    <a:pt x="277049" y="341432"/>
                    <a:pt x="259616" y="355600"/>
                    <a:pt x="238919" y="355600"/>
                  </a:cubicBezTo>
                  <a:lnTo>
                    <a:pt x="216694" y="355600"/>
                  </a:lnTo>
                  <a:cubicBezTo>
                    <a:pt x="204401" y="355600"/>
                    <a:pt x="194469" y="345668"/>
                    <a:pt x="194469" y="333375"/>
                  </a:cubicBezTo>
                  <a:lnTo>
                    <a:pt x="194469" y="22225"/>
                  </a:lnTo>
                  <a:cubicBezTo>
                    <a:pt x="194469" y="9932"/>
                    <a:pt x="204401" y="0"/>
                    <a:pt x="216694" y="0"/>
                  </a:cubicBezTo>
                  <a:lnTo>
                    <a:pt x="233363" y="0"/>
                  </a:lnTo>
                  <a:cubicBezTo>
                    <a:pt x="254824" y="0"/>
                    <a:pt x="272256" y="17433"/>
                    <a:pt x="272256" y="38894"/>
                  </a:cubicBezTo>
                  <a:close/>
                </a:path>
              </a:pathLst>
            </a:custGeom>
            <a:solidFill>
              <a:srgbClr val="1E2761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8699500" y="4953000"/>
              <a:ext cx="711200" cy="711200"/>
            </a:xfrm>
            <a:prstGeom prst="ellipse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8855075" y="5130800"/>
              <a:ext cx="400050" cy="355600"/>
            </a:xfrm>
            <a:custGeom>
              <a:avLst/>
              <a:gdLst/>
              <a:ahLst/>
              <a:cxnLst/>
              <a:rect l="l" t="t" r="r" b="b"/>
              <a:pathLst>
                <a:path w="400050" h="355600">
                  <a:moveTo>
                    <a:pt x="133350" y="66675"/>
                  </a:moveTo>
                  <a:cubicBezTo>
                    <a:pt x="133350" y="29865"/>
                    <a:pt x="163215" y="0"/>
                    <a:pt x="200025" y="0"/>
                  </a:cubicBezTo>
                  <a:cubicBezTo>
                    <a:pt x="236835" y="0"/>
                    <a:pt x="266700" y="29865"/>
                    <a:pt x="266700" y="66675"/>
                  </a:cubicBezTo>
                  <a:lnTo>
                    <a:pt x="266700" y="69175"/>
                  </a:lnTo>
                  <a:cubicBezTo>
                    <a:pt x="266700" y="80079"/>
                    <a:pt x="257879" y="88900"/>
                    <a:pt x="246975" y="88900"/>
                  </a:cubicBezTo>
                  <a:lnTo>
                    <a:pt x="153144" y="88900"/>
                  </a:lnTo>
                  <a:cubicBezTo>
                    <a:pt x="142240" y="88900"/>
                    <a:pt x="133419" y="80079"/>
                    <a:pt x="133419" y="69175"/>
                  </a:cubicBezTo>
                  <a:lnTo>
                    <a:pt x="133419" y="66675"/>
                  </a:lnTo>
                  <a:close/>
                  <a:moveTo>
                    <a:pt x="373380" y="75565"/>
                  </a:moveTo>
                  <a:cubicBezTo>
                    <a:pt x="380742" y="85358"/>
                    <a:pt x="378728" y="99318"/>
                    <a:pt x="368935" y="106680"/>
                  </a:cubicBezTo>
                  <a:lnTo>
                    <a:pt x="301010" y="157589"/>
                  </a:lnTo>
                  <a:cubicBezTo>
                    <a:pt x="304691" y="163770"/>
                    <a:pt x="307469" y="170577"/>
                    <a:pt x="309205" y="177800"/>
                  </a:cubicBezTo>
                  <a:lnTo>
                    <a:pt x="377825" y="177800"/>
                  </a:lnTo>
                  <a:cubicBezTo>
                    <a:pt x="390118" y="177800"/>
                    <a:pt x="400050" y="187732"/>
                    <a:pt x="400050" y="200025"/>
                  </a:cubicBezTo>
                  <a:cubicBezTo>
                    <a:pt x="400050" y="212318"/>
                    <a:pt x="390118" y="222250"/>
                    <a:pt x="377825" y="222250"/>
                  </a:cubicBezTo>
                  <a:lnTo>
                    <a:pt x="311150" y="222250"/>
                  </a:lnTo>
                  <a:lnTo>
                    <a:pt x="311150" y="244475"/>
                  </a:lnTo>
                  <a:cubicBezTo>
                    <a:pt x="311150" y="246281"/>
                    <a:pt x="311081" y="248156"/>
                    <a:pt x="311011" y="249962"/>
                  </a:cubicBezTo>
                  <a:lnTo>
                    <a:pt x="368935" y="293370"/>
                  </a:lnTo>
                  <a:cubicBezTo>
                    <a:pt x="378728" y="300732"/>
                    <a:pt x="380742" y="314692"/>
                    <a:pt x="373380" y="324485"/>
                  </a:cubicBezTo>
                  <a:cubicBezTo>
                    <a:pt x="366018" y="334278"/>
                    <a:pt x="352058" y="336292"/>
                    <a:pt x="342265" y="328930"/>
                  </a:cubicBezTo>
                  <a:lnTo>
                    <a:pt x="298440" y="296079"/>
                  </a:lnTo>
                  <a:cubicBezTo>
                    <a:pt x="282327" y="326777"/>
                    <a:pt x="252254" y="349002"/>
                    <a:pt x="216694" y="354350"/>
                  </a:cubicBezTo>
                  <a:lnTo>
                    <a:pt x="216694" y="194469"/>
                  </a:lnTo>
                  <a:cubicBezTo>
                    <a:pt x="216694" y="185231"/>
                    <a:pt x="209262" y="177800"/>
                    <a:pt x="200025" y="177800"/>
                  </a:cubicBezTo>
                  <a:cubicBezTo>
                    <a:pt x="190788" y="177800"/>
                    <a:pt x="183356" y="185231"/>
                    <a:pt x="183356" y="194469"/>
                  </a:cubicBezTo>
                  <a:lnTo>
                    <a:pt x="183356" y="354350"/>
                  </a:lnTo>
                  <a:cubicBezTo>
                    <a:pt x="147796" y="349002"/>
                    <a:pt x="117723" y="326777"/>
                    <a:pt x="101610" y="296079"/>
                  </a:cubicBezTo>
                  <a:lnTo>
                    <a:pt x="57785" y="328930"/>
                  </a:lnTo>
                  <a:cubicBezTo>
                    <a:pt x="47992" y="336292"/>
                    <a:pt x="34032" y="334278"/>
                    <a:pt x="26670" y="324485"/>
                  </a:cubicBezTo>
                  <a:cubicBezTo>
                    <a:pt x="19308" y="314692"/>
                    <a:pt x="21322" y="300732"/>
                    <a:pt x="31115" y="293370"/>
                  </a:cubicBezTo>
                  <a:lnTo>
                    <a:pt x="89039" y="249962"/>
                  </a:lnTo>
                  <a:cubicBezTo>
                    <a:pt x="88969" y="248156"/>
                    <a:pt x="88900" y="246350"/>
                    <a:pt x="88900" y="244475"/>
                  </a:cubicBezTo>
                  <a:lnTo>
                    <a:pt x="88900" y="222250"/>
                  </a:lnTo>
                  <a:lnTo>
                    <a:pt x="22225" y="222250"/>
                  </a:lnTo>
                  <a:cubicBezTo>
                    <a:pt x="9932" y="222250"/>
                    <a:pt x="0" y="212318"/>
                    <a:pt x="0" y="200025"/>
                  </a:cubicBezTo>
                  <a:cubicBezTo>
                    <a:pt x="0" y="187732"/>
                    <a:pt x="9932" y="177800"/>
                    <a:pt x="22225" y="177800"/>
                  </a:cubicBezTo>
                  <a:lnTo>
                    <a:pt x="90845" y="177800"/>
                  </a:lnTo>
                  <a:cubicBezTo>
                    <a:pt x="92581" y="170577"/>
                    <a:pt x="95359" y="163770"/>
                    <a:pt x="99040" y="157589"/>
                  </a:cubicBezTo>
                  <a:lnTo>
                    <a:pt x="31115" y="106680"/>
                  </a:lnTo>
                  <a:cubicBezTo>
                    <a:pt x="21322" y="99318"/>
                    <a:pt x="19308" y="85358"/>
                    <a:pt x="26670" y="75565"/>
                  </a:cubicBezTo>
                  <a:cubicBezTo>
                    <a:pt x="34032" y="65772"/>
                    <a:pt x="47992" y="63758"/>
                    <a:pt x="57785" y="71120"/>
                  </a:cubicBezTo>
                  <a:lnTo>
                    <a:pt x="133350" y="127794"/>
                  </a:lnTo>
                  <a:cubicBezTo>
                    <a:pt x="141893" y="124252"/>
                    <a:pt x="151269" y="122238"/>
                    <a:pt x="161131" y="122238"/>
                  </a:cubicBezTo>
                  <a:lnTo>
                    <a:pt x="238919" y="122238"/>
                  </a:lnTo>
                  <a:cubicBezTo>
                    <a:pt x="248781" y="122238"/>
                    <a:pt x="258157" y="124182"/>
                    <a:pt x="266700" y="127794"/>
                  </a:cubicBezTo>
                  <a:lnTo>
                    <a:pt x="342265" y="71120"/>
                  </a:lnTo>
                  <a:cubicBezTo>
                    <a:pt x="352058" y="63758"/>
                    <a:pt x="366018" y="65772"/>
                    <a:pt x="373380" y="75565"/>
                  </a:cubicBezTo>
                  <a:close/>
                </a:path>
              </a:pathLst>
            </a:custGeom>
            <a:solidFill>
              <a:srgbClr val="1E2761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10477500" y="4953000"/>
              <a:ext cx="711200" cy="711200"/>
            </a:xfrm>
            <a:prstGeom prst="ellipse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5" name="Shape 12"/>
            <p:cNvSpPr/>
            <p:nvPr/>
          </p:nvSpPr>
          <p:spPr>
            <a:xfrm>
              <a:off x="10610850" y="5130800"/>
              <a:ext cx="444500" cy="355600"/>
            </a:xfrm>
            <a:custGeom>
              <a:avLst/>
              <a:gdLst/>
              <a:ahLst/>
              <a:cxnLst/>
              <a:rect l="l" t="t" r="r" b="b"/>
              <a:pathLst>
                <a:path w="444500" h="355600">
                  <a:moveTo>
                    <a:pt x="88900" y="22225"/>
                  </a:moveTo>
                  <a:cubicBezTo>
                    <a:pt x="64383" y="22225"/>
                    <a:pt x="44450" y="42158"/>
                    <a:pt x="44450" y="66675"/>
                  </a:cubicBezTo>
                  <a:lnTo>
                    <a:pt x="44450" y="233363"/>
                  </a:lnTo>
                  <a:lnTo>
                    <a:pt x="88900" y="233363"/>
                  </a:lnTo>
                  <a:lnTo>
                    <a:pt x="88900" y="66675"/>
                  </a:lnTo>
                  <a:lnTo>
                    <a:pt x="355600" y="66675"/>
                  </a:lnTo>
                  <a:lnTo>
                    <a:pt x="355600" y="233363"/>
                  </a:lnTo>
                  <a:lnTo>
                    <a:pt x="400050" y="233363"/>
                  </a:lnTo>
                  <a:lnTo>
                    <a:pt x="400050" y="66675"/>
                  </a:lnTo>
                  <a:cubicBezTo>
                    <a:pt x="400050" y="42158"/>
                    <a:pt x="380117" y="22225"/>
                    <a:pt x="355600" y="22225"/>
                  </a:cubicBezTo>
                  <a:lnTo>
                    <a:pt x="88900" y="22225"/>
                  </a:lnTo>
                  <a:close/>
                  <a:moveTo>
                    <a:pt x="13335" y="266700"/>
                  </a:moveTo>
                  <a:cubicBezTo>
                    <a:pt x="5973" y="266700"/>
                    <a:pt x="0" y="272673"/>
                    <a:pt x="0" y="280035"/>
                  </a:cubicBezTo>
                  <a:cubicBezTo>
                    <a:pt x="0" y="309483"/>
                    <a:pt x="23892" y="333375"/>
                    <a:pt x="53340" y="333375"/>
                  </a:cubicBezTo>
                  <a:lnTo>
                    <a:pt x="391160" y="333375"/>
                  </a:lnTo>
                  <a:cubicBezTo>
                    <a:pt x="420608" y="333375"/>
                    <a:pt x="444500" y="309483"/>
                    <a:pt x="444500" y="280035"/>
                  </a:cubicBezTo>
                  <a:cubicBezTo>
                    <a:pt x="444500" y="272673"/>
                    <a:pt x="438527" y="266700"/>
                    <a:pt x="431165" y="266700"/>
                  </a:cubicBezTo>
                  <a:lnTo>
                    <a:pt x="13335" y="266700"/>
                  </a:lnTo>
                  <a:close/>
                </a:path>
              </a:pathLst>
            </a:custGeom>
            <a:solidFill>
              <a:srgbClr val="1E2761"/>
            </a:solidFill>
            <a:ln/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4076700" y="5308600"/>
              <a:ext cx="1066800" cy="0"/>
            </a:xfrm>
            <a:prstGeom prst="straightConnector1">
              <a:avLst/>
            </a:prstGeom>
            <a:noFill/>
            <a:ln w="25400">
              <a:solidFill>
                <a:srgbClr val="CADCF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7" name="Shape 14"/>
            <p:cNvSpPr/>
            <p:nvPr/>
          </p:nvSpPr>
          <p:spPr>
            <a:xfrm>
              <a:off x="5854700" y="5308600"/>
              <a:ext cx="1066800" cy="0"/>
            </a:xfrm>
            <a:prstGeom prst="straightConnector1">
              <a:avLst/>
            </a:prstGeom>
            <a:noFill/>
            <a:ln w="25400">
              <a:solidFill>
                <a:srgbClr val="CADCF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8" name="Shape 15"/>
            <p:cNvSpPr/>
            <p:nvPr/>
          </p:nvSpPr>
          <p:spPr>
            <a:xfrm>
              <a:off x="7632700" y="5308600"/>
              <a:ext cx="1066800" cy="0"/>
            </a:xfrm>
            <a:prstGeom prst="straightConnector1">
              <a:avLst/>
            </a:prstGeom>
            <a:noFill/>
            <a:ln w="25400">
              <a:solidFill>
                <a:srgbClr val="CADCF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19" name="Shape 16"/>
            <p:cNvSpPr/>
            <p:nvPr/>
          </p:nvSpPr>
          <p:spPr>
            <a:xfrm>
              <a:off x="9410700" y="5308600"/>
              <a:ext cx="1066800" cy="0"/>
            </a:xfrm>
            <a:prstGeom prst="straightConnector1">
              <a:avLst/>
            </a:prstGeom>
            <a:noFill/>
            <a:ln w="25400">
              <a:solidFill>
                <a:srgbClr val="CADCFC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PK">
                <a:latin typeface="Eras Bold ITC" panose="020B0907030504020204" pitchFamily="34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3111500" y="5778500"/>
              <a:ext cx="1219200" cy="279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CADCFC"/>
                  </a:solidFill>
                  <a:latin typeface="Eras Bold ITC" panose="020B0907030504020204" pitchFamily="34" charset="0"/>
                  <a:ea typeface="Quattrocento Sans" pitchFamily="34" charset="-122"/>
                  <a:cs typeface="Quattrocento Sans" pitchFamily="34" charset="-120"/>
                </a:rPr>
                <a:t>Network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21" name="Text 18"/>
            <p:cNvSpPr/>
            <p:nvPr/>
          </p:nvSpPr>
          <p:spPr>
            <a:xfrm>
              <a:off x="4889500" y="5778500"/>
              <a:ext cx="1219200" cy="279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CADCFC"/>
                  </a:solidFill>
                  <a:latin typeface="Eras Bold ITC" panose="020B0907030504020204" pitchFamily="34" charset="0"/>
                  <a:ea typeface="Quattrocento Sans" pitchFamily="34" charset="-122"/>
                  <a:cs typeface="Quattrocento Sans" pitchFamily="34" charset="-120"/>
                </a:rPr>
                <a:t>Identity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6667500" y="5778500"/>
              <a:ext cx="1219200" cy="279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CADCFC"/>
                  </a:solidFill>
                  <a:latin typeface="Eras Bold ITC" panose="020B0907030504020204" pitchFamily="34" charset="0"/>
                  <a:ea typeface="Quattrocento Sans" pitchFamily="34" charset="-122"/>
                  <a:cs typeface="Quattrocento Sans" pitchFamily="34" charset="-120"/>
                </a:rPr>
                <a:t>Intelligence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8445500" y="5778500"/>
              <a:ext cx="1219200" cy="279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CADCFC"/>
                  </a:solidFill>
                  <a:latin typeface="Eras Bold ITC" panose="020B0907030504020204" pitchFamily="34" charset="0"/>
                  <a:ea typeface="Quattrocento Sans" pitchFamily="34" charset="-122"/>
                  <a:cs typeface="Quattrocento Sans" pitchFamily="34" charset="-120"/>
                </a:rPr>
                <a:t>Deception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10223500" y="5778500"/>
              <a:ext cx="1219200" cy="279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CADCFC"/>
                  </a:solidFill>
                  <a:latin typeface="Eras Bold ITC" panose="020B0907030504020204" pitchFamily="34" charset="0"/>
                  <a:ea typeface="Quattrocento Sans" pitchFamily="34" charset="-122"/>
                  <a:cs typeface="Quattrocento Sans" pitchFamily="34" charset="-120"/>
                </a:rPr>
                <a:t>Endpoint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</p:grpSp>
      <p:sp>
        <p:nvSpPr>
          <p:cNvPr id="25" name="Text 22"/>
          <p:cNvSpPr/>
          <p:nvPr/>
        </p:nvSpPr>
        <p:spPr>
          <a:xfrm>
            <a:off x="3233351" y="5924753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kern="0" spc="300" dirty="0">
                <a:solidFill>
                  <a:srgbClr val="FFFFFF"/>
                </a:solidFill>
                <a:latin typeface="Eras Bold ITC" panose="020B0907030504020204" pitchFamily="34" charset="0"/>
                <a:ea typeface="Quattrocento Sans" pitchFamily="34" charset="-122"/>
                <a:cs typeface="Quattrocento Sans" pitchFamily="34" charset="-120"/>
              </a:rPr>
              <a:t>NEVER TRUST · ALWAYS VERIFY · ALWAYS MONITOR · ALWAYS RESPOND</a:t>
            </a:r>
            <a:endParaRPr lang="en-US" sz="1600" dirty="0">
              <a:latin typeface="Eras Bold ITC" panose="020B0907030504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0700" y="6959599"/>
            <a:ext cx="8890000" cy="1636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Project Members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Abdul Wahid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Abdul Rafay Aziz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Hafsa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Usman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2C9CC0-5291-1A13-5596-3DD67B4EC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425" y="42858"/>
            <a:ext cx="3394275" cy="25987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1FDBECC-B0E7-B1FA-22FC-CEAEF585D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8039" y="74203"/>
            <a:ext cx="3286616" cy="27388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A5000EA-DF40-613D-69B7-D22AB93E9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261" y="-28579"/>
            <a:ext cx="1714739" cy="571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EB355-BCB5-B1B6-B54B-AE643F12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6" y="-119921"/>
            <a:ext cx="16259695" cy="9378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46DD4C-63C7-E506-C271-E835657C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819" y="189255"/>
            <a:ext cx="11182663" cy="875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3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FA08-42B0-17ED-68C8-8CB9C91E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15C882A0-6C90-E17C-228A-29362B7A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460951" cy="93133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916B55-B4BA-3204-1F6A-C64A8BE092AA}"/>
              </a:ext>
            </a:extLst>
          </p:cNvPr>
          <p:cNvSpPr/>
          <p:nvPr/>
        </p:nvSpPr>
        <p:spPr>
          <a:xfrm>
            <a:off x="441960" y="45720"/>
            <a:ext cx="2849880" cy="25755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11BB1-AFB5-C0B6-E921-6155E73F6AB8}"/>
              </a:ext>
            </a:extLst>
          </p:cNvPr>
          <p:cNvSpPr/>
          <p:nvPr/>
        </p:nvSpPr>
        <p:spPr>
          <a:xfrm>
            <a:off x="13274040" y="45720"/>
            <a:ext cx="2849880" cy="25755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8CD25-C0CF-9482-D08B-316AA539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966" y="1524929"/>
            <a:ext cx="2629267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AEFCF6-FEDD-A50B-ED3E-D055847F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687" y="1524929"/>
            <a:ext cx="2629267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691CF8-669E-4B6F-1153-BF54A8F2B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241" y="4118350"/>
            <a:ext cx="2289119" cy="38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8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2203-424E-3C33-DB38-0DD5C2F4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203A09-A670-C8B9-2955-214D0C5A8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77" y="0"/>
            <a:ext cx="16333410" cy="915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5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516B63-78B0-9916-9759-115ADCBD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6" y="0"/>
            <a:ext cx="16259695" cy="91988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781489-6511-46DD-B0FA-C178B391B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38" y="1083185"/>
            <a:ext cx="13649345" cy="767775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C9FC6F-4C15-758E-C42E-170DD0DE8893}"/>
              </a:ext>
            </a:extLst>
          </p:cNvPr>
          <p:cNvSpPr txBox="1"/>
          <p:nvPr/>
        </p:nvSpPr>
        <p:spPr>
          <a:xfrm>
            <a:off x="2119680" y="126094"/>
            <a:ext cx="12655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M1-GNS3 Network Topology</a:t>
            </a:r>
            <a:endParaRPr lang="en-PK" sz="4800" dirty="0">
              <a:solidFill>
                <a:schemeClr val="bg1">
                  <a:lumMod val="85000"/>
                </a:schemeClr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67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0012-0EFF-AC82-46B3-9E3C75FE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31A51E-A8D1-423C-9B31-CA03CB54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6" y="0"/>
            <a:ext cx="16259695" cy="91988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D54940-DFA8-D0F5-6A2F-F83F7F832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0"/>
            <a:ext cx="1371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1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0479-F15C-F82D-6219-9E3760C8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E08475-EBB8-710D-123A-4C3D3A841A27}"/>
              </a:ext>
            </a:extLst>
          </p:cNvPr>
          <p:cNvSpPr txBox="1"/>
          <p:nvPr/>
        </p:nvSpPr>
        <p:spPr>
          <a:xfrm>
            <a:off x="498530" y="647150"/>
            <a:ext cx="9509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Edge Router (</a:t>
            </a:r>
            <a:r>
              <a:rPr lang="en-US" sz="3200" dirty="0" err="1">
                <a:effectLst/>
                <a:latin typeface="Eras Bold ITC" panose="020B0907030504020204" pitchFamily="34" charset="0"/>
              </a:rPr>
              <a:t>VyOS</a:t>
            </a:r>
            <a:r>
              <a:rPr lang="en-US" sz="3200" dirty="0">
                <a:effectLst/>
                <a:latin typeface="Eras Bold ITC" panose="020B0907030504020204" pitchFamily="34" charset="0"/>
              </a:rPr>
              <a:t>) – Internet Gateway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0A5BB-0BCD-70CF-5191-EA4136588129}"/>
              </a:ext>
            </a:extLst>
          </p:cNvPr>
          <p:cNvSpPr txBox="1"/>
          <p:nvPr/>
        </p:nvSpPr>
        <p:spPr>
          <a:xfrm>
            <a:off x="498530" y="1793350"/>
            <a:ext cx="812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Acts as WAN Edge with NAT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Provides internet connectivity to entire lab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D99408-3393-E449-500A-DE6B85721ADA}"/>
              </a:ext>
            </a:extLst>
          </p:cNvPr>
          <p:cNvGrpSpPr/>
          <p:nvPr/>
        </p:nvGrpSpPr>
        <p:grpSpPr>
          <a:xfrm>
            <a:off x="8372893" y="4681518"/>
            <a:ext cx="8128000" cy="3611582"/>
            <a:chOff x="7224133" y="1318367"/>
            <a:chExt cx="8128000" cy="31925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C96688-69A5-C141-053C-BC511C20E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4133" y="1318367"/>
              <a:ext cx="7879549" cy="2717581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276DAD-ABEB-1256-E3BC-984F41CA7B22}"/>
                </a:ext>
              </a:extLst>
            </p:cNvPr>
            <p:cNvSpPr txBox="1"/>
            <p:nvPr/>
          </p:nvSpPr>
          <p:spPr>
            <a:xfrm>
              <a:off x="7224133" y="4049251"/>
              <a:ext cx="8128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Aharoni" panose="02010803020104030203" pitchFamily="2" charset="-79"/>
                  <a:cs typeface="Aharoni" panose="02010803020104030203" pitchFamily="2" charset="-79"/>
                </a:rPr>
                <a:t>Interfaces</a:t>
              </a:r>
              <a:endParaRPr lang="en-US" sz="2400" dirty="0"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7E1C71-EF47-7366-5942-6439FFED770D}"/>
              </a:ext>
            </a:extLst>
          </p:cNvPr>
          <p:cNvGrpSpPr/>
          <p:nvPr/>
        </p:nvGrpSpPr>
        <p:grpSpPr>
          <a:xfrm>
            <a:off x="498530" y="4653249"/>
            <a:ext cx="8128000" cy="1698230"/>
            <a:chOff x="7224133" y="4541975"/>
            <a:chExt cx="8128000" cy="169823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72C73C-8C29-1D12-CFDA-793F21783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4133" y="4541975"/>
              <a:ext cx="7879549" cy="124332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A1192F-4E9D-8368-6283-397AC3EFE8CD}"/>
                </a:ext>
              </a:extLst>
            </p:cNvPr>
            <p:cNvSpPr txBox="1"/>
            <p:nvPr/>
          </p:nvSpPr>
          <p:spPr>
            <a:xfrm>
              <a:off x="7224133" y="5778540"/>
              <a:ext cx="8128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Aharoni" panose="02010803020104030203" pitchFamily="2" charset="-79"/>
                  <a:cs typeface="Aharoni" panose="02010803020104030203" pitchFamily="2" charset="-79"/>
                </a:rPr>
                <a:t>NAT + Route config</a:t>
              </a:r>
              <a:endParaRPr lang="en-US" sz="2400" dirty="0"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470294-1EDB-32D0-558F-0159C3591B48}"/>
              </a:ext>
            </a:extLst>
          </p:cNvPr>
          <p:cNvGrpSpPr/>
          <p:nvPr/>
        </p:nvGrpSpPr>
        <p:grpSpPr>
          <a:xfrm>
            <a:off x="498530" y="6498157"/>
            <a:ext cx="8128000" cy="1704986"/>
            <a:chOff x="7224133" y="6351479"/>
            <a:chExt cx="8128000" cy="170498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A9233A-CA76-CEDF-BE6A-F18BD44AF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4133" y="6351479"/>
              <a:ext cx="7874363" cy="124332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9CA29FB-E128-C4AB-268C-B3C2A7F9997A}"/>
                </a:ext>
              </a:extLst>
            </p:cNvPr>
            <p:cNvSpPr txBox="1"/>
            <p:nvPr/>
          </p:nvSpPr>
          <p:spPr>
            <a:xfrm>
              <a:off x="7224133" y="7594800"/>
              <a:ext cx="8128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Network Check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0605C2F-1D69-EFD1-77C8-DEC714BAE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323" y="647150"/>
            <a:ext cx="5845047" cy="350550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0974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AE05-3AE7-61D6-3E85-E782FEB0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AD7C39-9EC6-9E4F-9D3D-4DDA43DFB42B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F286A-745F-D438-6E9D-1AF7DADA8898}"/>
              </a:ext>
            </a:extLst>
          </p:cNvPr>
          <p:cNvSpPr txBox="1"/>
          <p:nvPr/>
        </p:nvSpPr>
        <p:spPr>
          <a:xfrm>
            <a:off x="1534555" y="1051846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Core Security Engine of the Lab Zones, Policies, User Authentication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BD0320-D239-DED6-ACC6-0178AD0A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4" y="1636168"/>
            <a:ext cx="7513443" cy="3586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AC40615-39D8-3C10-CFC1-4A6FDA7A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258" y="1761816"/>
            <a:ext cx="7544799" cy="304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34834F-DBBD-84AF-49BA-05FF4E137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850" y="5382502"/>
            <a:ext cx="7789245" cy="347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7B4AB0-048A-2C91-77AF-04419AC8A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94" y="5532360"/>
            <a:ext cx="7849457" cy="180755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AFFEF9-6DB4-8409-4FB3-D02CF71291B0}"/>
              </a:ext>
            </a:extLst>
          </p:cNvPr>
          <p:cNvSpPr txBox="1"/>
          <p:nvPr/>
        </p:nvSpPr>
        <p:spPr>
          <a:xfrm>
            <a:off x="5356779" y="4541100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Host Name + NTP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E3E925-CFFF-CAAB-FFD7-6649C3AF8202}"/>
              </a:ext>
            </a:extLst>
          </p:cNvPr>
          <p:cNvSpPr txBox="1"/>
          <p:nvPr/>
        </p:nvSpPr>
        <p:spPr>
          <a:xfrm>
            <a:off x="6218216" y="6711852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Routes Setup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851BB1-A26A-CACE-B7BD-2CCBBB3BACA5}"/>
              </a:ext>
            </a:extLst>
          </p:cNvPr>
          <p:cNvSpPr txBox="1"/>
          <p:nvPr/>
        </p:nvSpPr>
        <p:spPr>
          <a:xfrm>
            <a:off x="14318733" y="2334893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81B45-114C-FAE8-41DB-02AA0C248E7D}"/>
              </a:ext>
            </a:extLst>
          </p:cNvPr>
          <p:cNvSpPr txBox="1"/>
          <p:nvPr/>
        </p:nvSpPr>
        <p:spPr>
          <a:xfrm>
            <a:off x="14209501" y="8218408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Idle timeout</a:t>
            </a:r>
          </a:p>
        </p:txBody>
      </p:sp>
    </p:spTree>
    <p:extLst>
      <p:ext uri="{BB962C8B-B14F-4D97-AF65-F5344CB8AC3E}">
        <p14:creationId xmlns:p14="http://schemas.microsoft.com/office/powerpoint/2010/main" val="348861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1465-D6F3-95D6-EABE-B10BEDEF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7C51ED-9148-34F2-9141-6D7599B63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3" y="1731698"/>
            <a:ext cx="7235613" cy="339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3D840-532F-A0FC-B405-6B6EB6AC9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036" y="821273"/>
            <a:ext cx="6204941" cy="43559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836A6C-C7E7-E3F7-C2C9-D80675DD8B6F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3667D-D91B-0D37-F2E8-5B1168E21936}"/>
              </a:ext>
            </a:extLst>
          </p:cNvPr>
          <p:cNvSpPr txBox="1"/>
          <p:nvPr/>
        </p:nvSpPr>
        <p:spPr>
          <a:xfrm>
            <a:off x="3070937" y="11258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Zone Setup for better performance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C5DACA-A6EA-7B1F-14F0-C4649F156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584" y="2963515"/>
            <a:ext cx="5771126" cy="391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10A761-C403-A333-8EFB-6C67769D1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71" y="5126495"/>
            <a:ext cx="5269865" cy="37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7513AF-666A-F26F-F409-5C33C75238C9}"/>
              </a:ext>
            </a:extLst>
          </p:cNvPr>
          <p:cNvSpPr txBox="1"/>
          <p:nvPr/>
        </p:nvSpPr>
        <p:spPr>
          <a:xfrm>
            <a:off x="12098506" y="872299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INTERNAL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5D259-6EA6-41C5-9979-F7FD27364B9E}"/>
              </a:ext>
            </a:extLst>
          </p:cNvPr>
          <p:cNvSpPr txBox="1"/>
          <p:nvPr/>
        </p:nvSpPr>
        <p:spPr>
          <a:xfrm>
            <a:off x="10626615" y="3429096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DMZ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6E6702-F072-444C-7B95-CFCBA70EAF33}"/>
              </a:ext>
            </a:extLst>
          </p:cNvPr>
          <p:cNvSpPr txBox="1"/>
          <p:nvPr/>
        </p:nvSpPr>
        <p:spPr>
          <a:xfrm>
            <a:off x="6814234" y="5457731"/>
            <a:ext cx="237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WAN</a:t>
            </a:r>
          </a:p>
        </p:txBody>
      </p:sp>
    </p:spTree>
    <p:extLst>
      <p:ext uri="{BB962C8B-B14F-4D97-AF65-F5344CB8AC3E}">
        <p14:creationId xmlns:p14="http://schemas.microsoft.com/office/powerpoint/2010/main" val="230630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43CF-24FE-A369-84DA-04FD9B7A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9CD113-CA1D-8AAF-90ED-7A0787B1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3" y="1950085"/>
            <a:ext cx="8437103" cy="214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3DEFA8-D26D-606A-DB88-580B78E04CEA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92058-60EE-B637-8361-5DFF2DC54E1D}"/>
              </a:ext>
            </a:extLst>
          </p:cNvPr>
          <p:cNvSpPr txBox="1"/>
          <p:nvPr/>
        </p:nvSpPr>
        <p:spPr>
          <a:xfrm>
            <a:off x="3070937" y="11258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Virtual IP Setup for inbound/outbound traffic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1541CC-99AE-43CD-24B8-C9629F16F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229" y="967556"/>
            <a:ext cx="6137770" cy="411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D657C1-825E-2B56-D791-500FE55D8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993" y="4095697"/>
            <a:ext cx="5869824" cy="392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D48102-7923-0B2A-9EDD-DED8758CF302}"/>
              </a:ext>
            </a:extLst>
          </p:cNvPr>
          <p:cNvSpPr txBox="1"/>
          <p:nvPr/>
        </p:nvSpPr>
        <p:spPr>
          <a:xfrm>
            <a:off x="10130572" y="5236919"/>
            <a:ext cx="45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Inbound traffic setup for Nginx-&gt; Http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4D222-E534-E366-35DC-C034ACF6DD49}"/>
              </a:ext>
            </a:extLst>
          </p:cNvPr>
          <p:cNvSpPr txBox="1"/>
          <p:nvPr/>
        </p:nvSpPr>
        <p:spPr>
          <a:xfrm>
            <a:off x="2868071" y="8071245"/>
            <a:ext cx="45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Inbound traffic setup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forMailCow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0206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173D-91CB-05DC-C91F-AFA67703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00B4F-7455-0267-59AE-0B1BDACB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196" y="1125848"/>
            <a:ext cx="6337566" cy="44006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A60BE-6865-39DD-15B0-BC9CBB1E90D8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74675-8673-F004-0460-76C9F3B2C95B}"/>
              </a:ext>
            </a:extLst>
          </p:cNvPr>
          <p:cNvSpPr txBox="1"/>
          <p:nvPr/>
        </p:nvSpPr>
        <p:spPr>
          <a:xfrm>
            <a:off x="3070937" y="11258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IPS Sensor Example/Addressing GUI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1F3F6-6956-5A60-693A-B73644DBDF5B}"/>
              </a:ext>
            </a:extLst>
          </p:cNvPr>
          <p:cNvSpPr txBox="1"/>
          <p:nvPr/>
        </p:nvSpPr>
        <p:spPr>
          <a:xfrm>
            <a:off x="12334757" y="4387334"/>
            <a:ext cx="45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Adding Address for GUI Access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F1152B-DEE7-B78A-2F24-E73417F8F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92" y="1705647"/>
            <a:ext cx="5681208" cy="530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4AFE2D-F3BF-7DBE-F79B-F8BADA1C2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683" y="4756665"/>
            <a:ext cx="6073758" cy="357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452E37-DBD8-1483-12C3-AFD06CA131EC}"/>
              </a:ext>
            </a:extLst>
          </p:cNvPr>
          <p:cNvSpPr txBox="1"/>
          <p:nvPr/>
        </p:nvSpPr>
        <p:spPr>
          <a:xfrm>
            <a:off x="5909378" y="5453225"/>
            <a:ext cx="45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IPS Setup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24A94-40DF-3AFA-461C-2FD4A67B5FFB}"/>
              </a:ext>
            </a:extLst>
          </p:cNvPr>
          <p:cNvSpPr txBox="1"/>
          <p:nvPr/>
        </p:nvSpPr>
        <p:spPr>
          <a:xfrm>
            <a:off x="1617276" y="2225362"/>
            <a:ext cx="45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IPS Setup</a:t>
            </a:r>
          </a:p>
        </p:txBody>
      </p:sp>
    </p:spTree>
    <p:extLst>
      <p:ext uri="{BB962C8B-B14F-4D97-AF65-F5344CB8AC3E}">
        <p14:creationId xmlns:p14="http://schemas.microsoft.com/office/powerpoint/2010/main" val="229638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7052D-3615-C8B3-5FFF-802FAE8C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329961-9C08-D7A2-4DA6-FECA7513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01" y="1710623"/>
            <a:ext cx="6150235" cy="572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BE8AC0-052C-FAFB-0401-FD377A2B6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864" y="528886"/>
            <a:ext cx="6150235" cy="585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575882-83B7-A190-BDB2-E72F1725B3DC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E9219B-EC29-95FD-70D2-D89E53E357AE}"/>
              </a:ext>
            </a:extLst>
          </p:cNvPr>
          <p:cNvSpPr txBox="1"/>
          <p:nvPr/>
        </p:nvSpPr>
        <p:spPr>
          <a:xfrm>
            <a:off x="3959937" y="11258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Example Firewall Policy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1569BC-DB52-FC74-9588-401B8A65F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131" y="5963104"/>
            <a:ext cx="5269865" cy="3307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302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7C0A2-A411-A6F1-4680-553DFF4B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861113F-A141-6D4E-6E9B-1A7DDC12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" y="2316946"/>
            <a:ext cx="4689492" cy="4501912"/>
          </a:xfrm>
          <a:prstGeom prst="rect">
            <a:avLst/>
          </a:prstGeom>
          <a:noFill/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4133" y="2098516"/>
            <a:ext cx="0" cy="4946969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387A673-5381-E819-3BD8-D8D5068B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26" y="2958411"/>
            <a:ext cx="4716460" cy="3218983"/>
          </a:xfrm>
          <a:prstGeom prst="rect">
            <a:avLst/>
          </a:prstGeom>
          <a:noFill/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61226" y="2098516"/>
            <a:ext cx="0" cy="4946969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F5D7EB3-819A-6FAB-F087-311288F7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933" y="2602190"/>
            <a:ext cx="4689494" cy="4443295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9C19BC-94E5-0AAF-4A62-7FC032C89221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A62F3-8950-28D6-AEE4-069DDA769311}"/>
              </a:ext>
            </a:extLst>
          </p:cNvPr>
          <p:cNvSpPr txBox="1"/>
          <p:nvPr/>
        </p:nvSpPr>
        <p:spPr>
          <a:xfrm>
            <a:off x="4243216" y="11385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SSL Inspection-&gt; Stop Malicious Certificates</a:t>
            </a:r>
          </a:p>
        </p:txBody>
      </p:sp>
    </p:spTree>
    <p:extLst>
      <p:ext uri="{BB962C8B-B14F-4D97-AF65-F5344CB8AC3E}">
        <p14:creationId xmlns:p14="http://schemas.microsoft.com/office/powerpoint/2010/main" val="141522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FBB8-DAB6-AA52-A417-310ECE86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E7469-763B-8C8D-25A0-70969585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97" y="3875088"/>
            <a:ext cx="5268595" cy="5172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44CB2-3B0E-33B2-4D6A-F409EAC64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0104"/>
            <a:ext cx="8382953" cy="145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7170C-35DD-92A2-22EC-CF02FBA46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0" y="714058"/>
            <a:ext cx="5267960" cy="387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3C8EAA-D212-E8F4-E236-DD7672F62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075" y="4835843"/>
            <a:ext cx="5269230" cy="415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CC1773-832B-458F-C9DB-98C7393A2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75088"/>
            <a:ext cx="5271770" cy="49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9C6F52-1011-1D1A-1D38-B2540BA3EF5C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53EF4-9953-4965-FABB-BF1A0C7C4753}"/>
              </a:ext>
            </a:extLst>
          </p:cNvPr>
          <p:cNvSpPr txBox="1"/>
          <p:nvPr/>
        </p:nvSpPr>
        <p:spPr>
          <a:xfrm>
            <a:off x="4243216" y="1138548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WEB </a:t>
            </a:r>
            <a:r>
              <a:rPr lang="en-US" sz="2000" dirty="0" err="1">
                <a:latin typeface="Aharoni" panose="02010803020104030203" pitchFamily="2" charset="-79"/>
                <a:cs typeface="Aharoni" panose="02010803020104030203" pitchFamily="2" charset="-79"/>
              </a:rPr>
              <a:t>Filteration</a:t>
            </a: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25773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7D9C-8A42-9F2D-9E68-1CF73153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574351-602A-FB8B-2C3B-3D0CB207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6" y="3116505"/>
            <a:ext cx="8368652" cy="393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4CC0C3-6F5A-FE30-9708-85217B5C3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841" y="373727"/>
            <a:ext cx="5517438" cy="4709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BFE26A-3686-C0F6-D629-226E470D9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7050478"/>
            <a:ext cx="5863100" cy="163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3660B-ADE2-B365-4373-74F890E0A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841" y="4833114"/>
            <a:ext cx="5535020" cy="353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8D3BED-6ECD-0C41-508E-968B39B83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06" y="1520587"/>
            <a:ext cx="7371488" cy="143267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7A87CA-69F7-B19E-7A63-0964552F6341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FortiGate – Next Generation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364CB6-F87A-7F73-4C6F-129259D8B8C0}"/>
              </a:ext>
            </a:extLst>
          </p:cNvPr>
          <p:cNvSpPr txBox="1"/>
          <p:nvPr/>
        </p:nvSpPr>
        <p:spPr>
          <a:xfrm>
            <a:off x="4340510" y="1076846"/>
            <a:ext cx="8695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Password Hardening</a:t>
            </a:r>
          </a:p>
        </p:txBody>
      </p:sp>
    </p:spTree>
    <p:extLst>
      <p:ext uri="{BB962C8B-B14F-4D97-AF65-F5344CB8AC3E}">
        <p14:creationId xmlns:p14="http://schemas.microsoft.com/office/powerpoint/2010/main" val="1081069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12C88-C10E-ADD3-CB3A-93448CF4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B29C0-9A58-FD00-004D-6F32AD5F49C6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Suricata-Inline</a:t>
            </a:r>
          </a:p>
        </p:txBody>
      </p:sp>
      <p:pic>
        <p:nvPicPr>
          <p:cNvPr id="3" name="Picture 2" descr="‪Suricata‬‏">
            <a:extLst>
              <a:ext uri="{FF2B5EF4-FFF2-40B4-BE49-F238E27FC236}">
                <a16:creationId xmlns:a16="http://schemas.microsoft.com/office/drawing/2014/main" id="{9BD95588-55E3-F29C-8899-323E51B4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167" y="42098"/>
            <a:ext cx="3012131" cy="21431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D7DC33-CEC1-49E0-7A36-C3FA9AB01C51}"/>
              </a:ext>
            </a:extLst>
          </p:cNvPr>
          <p:cNvSpPr txBox="1"/>
          <p:nvPr/>
        </p:nvSpPr>
        <p:spPr>
          <a:xfrm>
            <a:off x="624702" y="1275480"/>
            <a:ext cx="812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Inline mode between FortiGate and DMZ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Real-time threat detection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FEC47-59F2-37CE-C79C-F723EE6E85EC}"/>
              </a:ext>
            </a:extLst>
          </p:cNvPr>
          <p:cNvSpPr txBox="1"/>
          <p:nvPr/>
        </p:nvSpPr>
        <p:spPr>
          <a:xfrm>
            <a:off x="3784600" y="4392886"/>
            <a:ext cx="812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Suricata service status - Active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C6967D-640C-12EE-C269-E88C2935E3F0}"/>
              </a:ext>
            </a:extLst>
          </p:cNvPr>
          <p:cNvSpPr txBox="1"/>
          <p:nvPr/>
        </p:nvSpPr>
        <p:spPr>
          <a:xfrm>
            <a:off x="4491167" y="6233894"/>
            <a:ext cx="812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AF_PACKET support</a:t>
            </a:r>
            <a:endParaRPr lang="en-US" sz="20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4EA9F-2A92-7526-70D9-67F60DBDA554}"/>
              </a:ext>
            </a:extLst>
          </p:cNvPr>
          <p:cNvSpPr txBox="1"/>
          <p:nvPr/>
        </p:nvSpPr>
        <p:spPr>
          <a:xfrm>
            <a:off x="3784600" y="7874848"/>
            <a:ext cx="812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Suricata logs showing DNS queries</a:t>
            </a:r>
            <a:endParaRPr lang="en-US" sz="20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2F212F5-C822-6694-A533-DB327EF6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82" y="2966971"/>
            <a:ext cx="10930137" cy="14154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FEC00EE-89CA-A862-2059-292F4C507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316" y="6956417"/>
            <a:ext cx="8009405" cy="9121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D858AB-39FB-F817-1795-BB49D8F3D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301" y="4992070"/>
            <a:ext cx="7979420" cy="123768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6687723-C5CD-3912-461A-2AF9ACB856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6967" y="2776655"/>
            <a:ext cx="1696530" cy="443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05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2A25-160E-41CD-54EA-6D4E6D48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EDCB2-2820-47BD-149B-AECF9BEC9FF6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Suricata-</a:t>
            </a:r>
            <a:r>
              <a:rPr lang="en-US" sz="3200" dirty="0" err="1">
                <a:effectLst/>
                <a:latin typeface="Eras Bold ITC" panose="020B0907030504020204" pitchFamily="34" charset="0"/>
              </a:rPr>
              <a:t>Mgmt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3" name="Picture 2" descr="‪Suricata‬‏">
            <a:extLst>
              <a:ext uri="{FF2B5EF4-FFF2-40B4-BE49-F238E27FC236}">
                <a16:creationId xmlns:a16="http://schemas.microsoft.com/office/drawing/2014/main" id="{01FFCAB1-9B59-6927-FB0E-A0F210FA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167" y="42098"/>
            <a:ext cx="3012131" cy="214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429B6A-C798-9B5C-226F-347C66C8DF8F}"/>
              </a:ext>
            </a:extLst>
          </p:cNvPr>
          <p:cNvSpPr txBox="1"/>
          <p:nvPr/>
        </p:nvSpPr>
        <p:spPr>
          <a:xfrm>
            <a:off x="852616" y="1233788"/>
            <a:ext cx="8130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Monitors Management VLAN traffic (10.10.3.0/24)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Passive monitoring on ens3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Logs to fast.log &amp;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eve.json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AA5D0D-7BEE-8FAE-27FE-10EDE0026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558" y="2185223"/>
            <a:ext cx="7640740" cy="4176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2AD3F3-542A-466C-0A78-53A307C6B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4" y="3139459"/>
            <a:ext cx="6159543" cy="1617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6A4C14-ACF4-6065-4906-5469EFAFA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4" y="5351446"/>
            <a:ext cx="7275384" cy="12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5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FB243-881F-8A25-83BD-B64FB408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1936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4969D-2644-5DFC-7837-758D17C28D0F}"/>
              </a:ext>
            </a:extLst>
          </p:cNvPr>
          <p:cNvSpPr txBox="1"/>
          <p:nvPr/>
        </p:nvSpPr>
        <p:spPr>
          <a:xfrm>
            <a:off x="841224" y="857953"/>
            <a:ext cx="5193812" cy="24621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700" dirty="0">
                <a:latin typeface="Eras Bold ITC" panose="020B0907030504020204" pitchFamily="34" charset="0"/>
                <a:ea typeface="+mj-ea"/>
                <a:cs typeface="+mj-cs"/>
              </a:rPr>
              <a:t>Pi-hole – DNS Security Layer</a:t>
            </a:r>
            <a:endParaRPr lang="en-US" sz="6700" dirty="0">
              <a:effectLst/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40" y="3545525"/>
            <a:ext cx="4754880" cy="24384"/>
          </a:xfrm>
          <a:custGeom>
            <a:avLst/>
            <a:gdLst>
              <a:gd name="csX0" fmla="*/ 0 w 4754880"/>
              <a:gd name="csY0" fmla="*/ 0 h 24384"/>
              <a:gd name="csX1" fmla="*/ 584171 w 4754880"/>
              <a:gd name="csY1" fmla="*/ 0 h 24384"/>
              <a:gd name="csX2" fmla="*/ 1263440 w 4754880"/>
              <a:gd name="csY2" fmla="*/ 0 h 24384"/>
              <a:gd name="csX3" fmla="*/ 1847611 w 4754880"/>
              <a:gd name="csY3" fmla="*/ 0 h 24384"/>
              <a:gd name="csX4" fmla="*/ 2526879 w 4754880"/>
              <a:gd name="csY4" fmla="*/ 0 h 24384"/>
              <a:gd name="csX5" fmla="*/ 3206148 w 4754880"/>
              <a:gd name="csY5" fmla="*/ 0 h 24384"/>
              <a:gd name="csX6" fmla="*/ 3980514 w 4754880"/>
              <a:gd name="csY6" fmla="*/ 0 h 24384"/>
              <a:gd name="csX7" fmla="*/ 4754880 w 4754880"/>
              <a:gd name="csY7" fmla="*/ 0 h 24384"/>
              <a:gd name="csX8" fmla="*/ 4754880 w 4754880"/>
              <a:gd name="csY8" fmla="*/ 24384 h 24384"/>
              <a:gd name="csX9" fmla="*/ 4075611 w 4754880"/>
              <a:gd name="csY9" fmla="*/ 24384 h 24384"/>
              <a:gd name="csX10" fmla="*/ 3491440 w 4754880"/>
              <a:gd name="csY10" fmla="*/ 24384 h 24384"/>
              <a:gd name="csX11" fmla="*/ 2812172 w 4754880"/>
              <a:gd name="csY11" fmla="*/ 24384 h 24384"/>
              <a:gd name="csX12" fmla="*/ 2085355 w 4754880"/>
              <a:gd name="csY12" fmla="*/ 24384 h 24384"/>
              <a:gd name="csX13" fmla="*/ 1453635 w 4754880"/>
              <a:gd name="csY13" fmla="*/ 24384 h 24384"/>
              <a:gd name="csX14" fmla="*/ 869464 w 4754880"/>
              <a:gd name="csY14" fmla="*/ 24384 h 24384"/>
              <a:gd name="csX15" fmla="*/ 0 w 4754880"/>
              <a:gd name="csY15" fmla="*/ 24384 h 24384"/>
              <a:gd name="csX16" fmla="*/ 0 w 4754880"/>
              <a:gd name="csY16" fmla="*/ 0 h 24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754880" h="24384" fill="none" extrusionOk="0">
                <a:moveTo>
                  <a:pt x="0" y="0"/>
                </a:moveTo>
                <a:cubicBezTo>
                  <a:pt x="256252" y="-28676"/>
                  <a:pt x="330500" y="5735"/>
                  <a:pt x="584171" y="0"/>
                </a:cubicBezTo>
                <a:cubicBezTo>
                  <a:pt x="837842" y="-5735"/>
                  <a:pt x="1065709" y="-15881"/>
                  <a:pt x="1263440" y="0"/>
                </a:cubicBezTo>
                <a:cubicBezTo>
                  <a:pt x="1461171" y="15881"/>
                  <a:pt x="1672633" y="-3233"/>
                  <a:pt x="1847611" y="0"/>
                </a:cubicBezTo>
                <a:cubicBezTo>
                  <a:pt x="2022589" y="3233"/>
                  <a:pt x="2246414" y="9597"/>
                  <a:pt x="2526879" y="0"/>
                </a:cubicBezTo>
                <a:cubicBezTo>
                  <a:pt x="2807344" y="-9597"/>
                  <a:pt x="2908821" y="-4906"/>
                  <a:pt x="3206148" y="0"/>
                </a:cubicBezTo>
                <a:cubicBezTo>
                  <a:pt x="3503475" y="4906"/>
                  <a:pt x="3635642" y="29416"/>
                  <a:pt x="3980514" y="0"/>
                </a:cubicBezTo>
                <a:cubicBezTo>
                  <a:pt x="4325386" y="-29416"/>
                  <a:pt x="4394711" y="-29218"/>
                  <a:pt x="4754880" y="0"/>
                </a:cubicBezTo>
                <a:cubicBezTo>
                  <a:pt x="4754820" y="8381"/>
                  <a:pt x="4755196" y="15632"/>
                  <a:pt x="4754880" y="24384"/>
                </a:cubicBezTo>
                <a:cubicBezTo>
                  <a:pt x="4569476" y="50023"/>
                  <a:pt x="4284530" y="8945"/>
                  <a:pt x="4075611" y="24384"/>
                </a:cubicBezTo>
                <a:cubicBezTo>
                  <a:pt x="3866692" y="39823"/>
                  <a:pt x="3740854" y="48864"/>
                  <a:pt x="3491440" y="24384"/>
                </a:cubicBezTo>
                <a:cubicBezTo>
                  <a:pt x="3242026" y="-96"/>
                  <a:pt x="3043913" y="6956"/>
                  <a:pt x="2812172" y="24384"/>
                </a:cubicBezTo>
                <a:cubicBezTo>
                  <a:pt x="2580431" y="41812"/>
                  <a:pt x="2396434" y="27664"/>
                  <a:pt x="2085355" y="24384"/>
                </a:cubicBezTo>
                <a:cubicBezTo>
                  <a:pt x="1774276" y="21104"/>
                  <a:pt x="1733519" y="28367"/>
                  <a:pt x="1453635" y="24384"/>
                </a:cubicBezTo>
                <a:cubicBezTo>
                  <a:pt x="1173751" y="20401"/>
                  <a:pt x="1058467" y="47182"/>
                  <a:pt x="869464" y="24384"/>
                </a:cubicBezTo>
                <a:cubicBezTo>
                  <a:pt x="680461" y="1586"/>
                  <a:pt x="421451" y="-6566"/>
                  <a:pt x="0" y="24384"/>
                </a:cubicBezTo>
                <a:cubicBezTo>
                  <a:pt x="-1147" y="16290"/>
                  <a:pt x="850" y="8511"/>
                  <a:pt x="0" y="0"/>
                </a:cubicBezTo>
                <a:close/>
              </a:path>
              <a:path w="4754880" h="24384" stroke="0" extrusionOk="0">
                <a:moveTo>
                  <a:pt x="0" y="0"/>
                </a:moveTo>
                <a:cubicBezTo>
                  <a:pt x="238152" y="-26363"/>
                  <a:pt x="510648" y="1318"/>
                  <a:pt x="679269" y="0"/>
                </a:cubicBezTo>
                <a:cubicBezTo>
                  <a:pt x="847890" y="-1318"/>
                  <a:pt x="1212185" y="32482"/>
                  <a:pt x="1406086" y="0"/>
                </a:cubicBezTo>
                <a:cubicBezTo>
                  <a:pt x="1599987" y="-32482"/>
                  <a:pt x="1872002" y="2307"/>
                  <a:pt x="2037806" y="0"/>
                </a:cubicBezTo>
                <a:cubicBezTo>
                  <a:pt x="2203610" y="-2307"/>
                  <a:pt x="2437258" y="21140"/>
                  <a:pt x="2812172" y="0"/>
                </a:cubicBezTo>
                <a:cubicBezTo>
                  <a:pt x="3187086" y="-21140"/>
                  <a:pt x="3174743" y="-17456"/>
                  <a:pt x="3491440" y="0"/>
                </a:cubicBezTo>
                <a:cubicBezTo>
                  <a:pt x="3808137" y="17456"/>
                  <a:pt x="3824575" y="-5372"/>
                  <a:pt x="4075611" y="0"/>
                </a:cubicBezTo>
                <a:cubicBezTo>
                  <a:pt x="4326647" y="5372"/>
                  <a:pt x="4446483" y="29333"/>
                  <a:pt x="4754880" y="0"/>
                </a:cubicBezTo>
                <a:cubicBezTo>
                  <a:pt x="4753911" y="7155"/>
                  <a:pt x="4755516" y="16885"/>
                  <a:pt x="4754880" y="24384"/>
                </a:cubicBezTo>
                <a:cubicBezTo>
                  <a:pt x="4623044" y="13625"/>
                  <a:pt x="4461973" y="44014"/>
                  <a:pt x="4170709" y="24384"/>
                </a:cubicBezTo>
                <a:cubicBezTo>
                  <a:pt x="3879445" y="4754"/>
                  <a:pt x="3728308" y="17072"/>
                  <a:pt x="3443892" y="24384"/>
                </a:cubicBezTo>
                <a:cubicBezTo>
                  <a:pt x="3159476" y="31696"/>
                  <a:pt x="3057284" y="5488"/>
                  <a:pt x="2859721" y="24384"/>
                </a:cubicBezTo>
                <a:cubicBezTo>
                  <a:pt x="2662158" y="43280"/>
                  <a:pt x="2554766" y="506"/>
                  <a:pt x="2323099" y="24384"/>
                </a:cubicBezTo>
                <a:cubicBezTo>
                  <a:pt x="2091432" y="48262"/>
                  <a:pt x="1937012" y="55842"/>
                  <a:pt x="1691379" y="24384"/>
                </a:cubicBezTo>
                <a:cubicBezTo>
                  <a:pt x="1445746" y="-7074"/>
                  <a:pt x="1397865" y="21676"/>
                  <a:pt x="1107208" y="24384"/>
                </a:cubicBezTo>
                <a:cubicBezTo>
                  <a:pt x="816551" y="27092"/>
                  <a:pt x="481701" y="37833"/>
                  <a:pt x="0" y="24384"/>
                </a:cubicBezTo>
                <a:cubicBezTo>
                  <a:pt x="934" y="12991"/>
                  <a:pt x="371" y="624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833AE-B0D9-2904-627D-3394BFD6D117}"/>
              </a:ext>
            </a:extLst>
          </p:cNvPr>
          <p:cNvSpPr txBox="1"/>
          <p:nvPr/>
        </p:nvSpPr>
        <p:spPr>
          <a:xfrm>
            <a:off x="841248" y="3742889"/>
            <a:ext cx="5194029" cy="4515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haroni" panose="02010803020104030203" pitchFamily="2" charset="-79"/>
                <a:cs typeface="Aharoni" panose="02010803020104030203" pitchFamily="2" charset="-79"/>
              </a:rPr>
              <a:t>Primary DNS for Internal + DMZ networks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haroni" panose="02010803020104030203" pitchFamily="2" charset="-79"/>
                <a:cs typeface="Aharoni" panose="02010803020104030203" pitchFamily="2" charset="-79"/>
              </a:rPr>
              <a:t>Blocks ads, trackers, and malware domains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haroni" panose="02010803020104030203" pitchFamily="2" charset="-79"/>
                <a:cs typeface="Aharoni" panose="02010803020104030203" pitchFamily="2" charset="-79"/>
              </a:rPr>
              <a:t>Integrated with FortiGate DHCP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>
                <a:latin typeface="Aharoni" panose="02010803020104030203" pitchFamily="2" charset="-79"/>
                <a:cs typeface="Aharoni" panose="02010803020104030203" pitchFamily="2" charset="-79"/>
              </a:rPr>
              <a:t>High availability with backup DNS (8.8.8.8)</a:t>
            </a:r>
          </a:p>
        </p:txBody>
      </p:sp>
      <p:pic>
        <p:nvPicPr>
          <p:cNvPr id="10" name="Picture 9" descr="‪Pi-hole - Wikipedia‬‏">
            <a:extLst>
              <a:ext uri="{FF2B5EF4-FFF2-40B4-BE49-F238E27FC236}">
                <a16:creationId xmlns:a16="http://schemas.microsoft.com/office/drawing/2014/main" id="{A95D1550-B2F9-7A6B-0642-79DE2446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54" y="219456"/>
            <a:ext cx="3123027" cy="4608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84484-2E2E-3152-2262-657E2CB95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489" y="4451978"/>
            <a:ext cx="6144437" cy="1858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4F159D-BC55-CE2E-92F3-96A7D34B6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332" y="6398507"/>
            <a:ext cx="5613417" cy="252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9FB104-FDB5-5D4E-3D6B-54E52BA22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883" y="826578"/>
            <a:ext cx="6125651" cy="35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2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85A3-072A-D1E0-350E-965BD272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F4501-AC5A-D399-F532-246BFF7DA8A9}"/>
              </a:ext>
            </a:extLst>
          </p:cNvPr>
          <p:cNvSpPr txBox="1"/>
          <p:nvPr/>
        </p:nvSpPr>
        <p:spPr>
          <a:xfrm>
            <a:off x="462864" y="528886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DMZ-Switch – Layer 2 Bridge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95C2A-6B23-1054-FD89-02222891EEEC}"/>
              </a:ext>
            </a:extLst>
          </p:cNvPr>
          <p:cNvSpPr txBox="1"/>
          <p:nvPr/>
        </p:nvSpPr>
        <p:spPr>
          <a:xfrm>
            <a:off x="624702" y="1275480"/>
            <a:ext cx="812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Transparent bridging for DMZ devices</a:t>
            </a:r>
            <a:endParaRPr lang="en-US" sz="24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FCD276-95D1-DAE2-7CA4-C69A74F4E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334" y="908762"/>
            <a:ext cx="1696530" cy="44308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E601C-AA0F-8386-E0B7-084084A8C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714" y="6176480"/>
            <a:ext cx="6638645" cy="2002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9DC21-1949-64F0-C6DC-C5F323268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02" y="5752975"/>
            <a:ext cx="7503298" cy="1357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CAF977-E449-84F1-395D-B549724CE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714" y="528886"/>
            <a:ext cx="6587584" cy="519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07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9E97-780E-DF06-53C0-50194E16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5772E-4A11-44C6-26C8-A8ED956B6425}"/>
              </a:ext>
            </a:extLst>
          </p:cNvPr>
          <p:cNvSpPr txBox="1"/>
          <p:nvPr/>
        </p:nvSpPr>
        <p:spPr>
          <a:xfrm>
            <a:off x="462864" y="528886"/>
            <a:ext cx="91256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Distribution Switch &amp; Management Switch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5BAA0-BA99-A199-AB3D-7477B872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589" y="5224393"/>
            <a:ext cx="5868042" cy="1467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E8FE3F-BA83-3115-7BC9-571D6F5DE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589" y="6946253"/>
            <a:ext cx="6110158" cy="745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2327C5-6E96-2020-295A-DD478F9EC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589" y="237353"/>
            <a:ext cx="5800159" cy="4606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2249CD-EF29-CC4A-128B-00370E27F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4" y="1343861"/>
            <a:ext cx="6547536" cy="53475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A5CEAE3-F1FC-8C93-61CF-20042AABB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64" y="6808692"/>
            <a:ext cx="6547536" cy="140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84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0B6A-7DA7-95CC-B39F-2721F179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FE5404-C7CD-4445-2880-2107D2F52F89}"/>
              </a:ext>
            </a:extLst>
          </p:cNvPr>
          <p:cNvSpPr txBox="1"/>
          <p:nvPr/>
        </p:nvSpPr>
        <p:spPr>
          <a:xfrm>
            <a:off x="274662" y="691634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effectLst/>
                <a:latin typeface="Eras Bold ITC" panose="020B0907030504020204" pitchFamily="34" charset="0"/>
              </a:rPr>
              <a:t>Zeek-Rita – Network Monitoring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90C378-1745-51C3-D7C8-667EAE5B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473" y="4200291"/>
            <a:ext cx="8730864" cy="3240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997D6D-FF52-CAC7-1C39-F9404EA0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62" y="7350694"/>
            <a:ext cx="7385253" cy="9513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A9BCB0-18B8-0809-6022-729986E68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73" y="567344"/>
            <a:ext cx="8730865" cy="31532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08F520-B28A-FB8F-B216-8241C8249007}"/>
              </a:ext>
            </a:extLst>
          </p:cNvPr>
          <p:cNvSpPr txBox="1"/>
          <p:nvPr/>
        </p:nvSpPr>
        <p:spPr>
          <a:xfrm>
            <a:off x="11103300" y="3747508"/>
            <a:ext cx="812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Eras Bold ITC" panose="020B0907030504020204" pitchFamily="34" charset="0"/>
              </a:rPr>
              <a:t>Zeek Running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C77F8-439E-E440-9081-7D6FE96D5D70}"/>
              </a:ext>
            </a:extLst>
          </p:cNvPr>
          <p:cNvSpPr txBox="1"/>
          <p:nvPr/>
        </p:nvSpPr>
        <p:spPr>
          <a:xfrm>
            <a:off x="9872064" y="7350694"/>
            <a:ext cx="498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Eras Bold ITC" panose="020B0907030504020204" pitchFamily="34" charset="0"/>
              </a:rPr>
              <a:t>Data base Server Working Perfectly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A8FD0-86A2-3846-B15F-415ECBCD9E9C}"/>
              </a:ext>
            </a:extLst>
          </p:cNvPr>
          <p:cNvSpPr txBox="1"/>
          <p:nvPr/>
        </p:nvSpPr>
        <p:spPr>
          <a:xfrm>
            <a:off x="3144196" y="8376601"/>
            <a:ext cx="498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Eras Bold ITC" panose="020B0907030504020204" pitchFamily="34" charset="0"/>
              </a:rPr>
              <a:t>Database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78DE09-54D5-94A5-6FCD-4D83F8A24AF3}"/>
              </a:ext>
            </a:extLst>
          </p:cNvPr>
          <p:cNvSpPr txBox="1"/>
          <p:nvPr/>
        </p:nvSpPr>
        <p:spPr>
          <a:xfrm>
            <a:off x="274662" y="1506690"/>
            <a:ext cx="6777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Zeek </a:t>
            </a:r>
            <a:r>
              <a:rPr lang="en-US" sz="2400" b="1" dirty="0">
                <a:latin typeface="Book Antiqua" panose="02040602050305030304" pitchFamily="18" charset="0"/>
                <a:cs typeface="Aharoni" panose="02010803020104030203" pitchFamily="2" charset="-79"/>
              </a:rPr>
              <a:t>(Network Security Monitor):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 Passively captures and logs all internal network traffic on ens4 mirror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RITA </a:t>
            </a:r>
            <a:r>
              <a:rPr lang="en-US" sz="2400" b="1" dirty="0">
                <a:latin typeface="Book Antiqua" panose="02040602050305030304" pitchFamily="18" charset="0"/>
                <a:cs typeface="Aharoni" panose="02010803020104030203" pitchFamily="2" charset="-79"/>
              </a:rPr>
              <a:t>(Real Intelligence Threat Analytics):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 Analyzes Zeek logs to detect C2 beaconing, long connections, and suspicious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MongoDB Backend: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Stores parsed data for advanced threat hunting and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Key Role</a:t>
            </a:r>
            <a:r>
              <a:rPr lang="en-US" sz="2400" b="1" dirty="0">
                <a:latin typeface="Book Antiqua" panose="02040602050305030304" pitchFamily="18" charset="0"/>
                <a:cs typeface="Aharoni" panose="02010803020104030203" pitchFamily="2" charset="-79"/>
              </a:rPr>
              <a:t>: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 Provides deep network visibility and anomaly detection in the Internal/Management network</a:t>
            </a:r>
          </a:p>
        </p:txBody>
      </p:sp>
    </p:spTree>
    <p:extLst>
      <p:ext uri="{BB962C8B-B14F-4D97-AF65-F5344CB8AC3E}">
        <p14:creationId xmlns:p14="http://schemas.microsoft.com/office/powerpoint/2010/main" val="174437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9162-91AE-16F4-895A-A1BC9B48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7CA5A-BF74-2EAF-4F09-FA39BFD2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19" y="3770881"/>
            <a:ext cx="4422270" cy="4848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C72365-2A90-68DF-8D43-C600B136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918" y="4683263"/>
            <a:ext cx="6362029" cy="3678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CA711E-7454-B029-3496-2D07FD38E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919" y="1161077"/>
            <a:ext cx="6362029" cy="27930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8F1AA2-D4C6-A6EF-D2F4-41F3FFDD0300}"/>
              </a:ext>
            </a:extLst>
          </p:cNvPr>
          <p:cNvSpPr txBox="1"/>
          <p:nvPr/>
        </p:nvSpPr>
        <p:spPr>
          <a:xfrm>
            <a:off x="10031030" y="3954163"/>
            <a:ext cx="498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latin typeface="Eras Bold ITC" panose="020B0907030504020204" pitchFamily="34" charset="0"/>
              </a:rPr>
              <a:t>Open ports for listening</a:t>
            </a:r>
            <a:endParaRPr lang="en-US" sz="2000" dirty="0">
              <a:effectLst/>
              <a:latin typeface="Eras Bold ITC" panose="020B0907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C4E6B-8081-3CC3-946C-06F63E1C0F08}"/>
              </a:ext>
            </a:extLst>
          </p:cNvPr>
          <p:cNvSpPr txBox="1"/>
          <p:nvPr/>
        </p:nvSpPr>
        <p:spPr>
          <a:xfrm>
            <a:off x="10261671" y="8361311"/>
            <a:ext cx="498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effectLst/>
                <a:latin typeface="Eras Bold ITC" panose="020B0907030504020204" pitchFamily="34" charset="0"/>
              </a:rPr>
              <a:t>Squid Logs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3EA5D-FA38-3266-AEDF-AF23EFB6773B}"/>
              </a:ext>
            </a:extLst>
          </p:cNvPr>
          <p:cNvSpPr txBox="1"/>
          <p:nvPr/>
        </p:nvSpPr>
        <p:spPr>
          <a:xfrm>
            <a:off x="1112171" y="8619789"/>
            <a:ext cx="498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effectLst/>
                <a:latin typeface="Eras Bold ITC" panose="020B0907030504020204" pitchFamily="34" charset="0"/>
              </a:rPr>
              <a:t>Traffic Logs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00779-1C3A-843B-C710-51A60908C1A6}"/>
              </a:ext>
            </a:extLst>
          </p:cNvPr>
          <p:cNvSpPr txBox="1"/>
          <p:nvPr/>
        </p:nvSpPr>
        <p:spPr>
          <a:xfrm>
            <a:off x="552052" y="576302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Traffic Squid (</a:t>
            </a:r>
            <a:r>
              <a:rPr lang="en-US" sz="3200" dirty="0" err="1">
                <a:latin typeface="Eras Bold ITC" panose="020B0907030504020204" pitchFamily="34" charset="0"/>
              </a:rPr>
              <a:t>Traefik</a:t>
            </a:r>
            <a:r>
              <a:rPr lang="en-US" sz="3200" dirty="0">
                <a:latin typeface="Eras Bold ITC" panose="020B0907030504020204" pitchFamily="34" charset="0"/>
              </a:rPr>
              <a:t> + Squid)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4A4BF4-4A05-5A6F-F66A-84F22EF5B280}"/>
              </a:ext>
            </a:extLst>
          </p:cNvPr>
          <p:cNvSpPr txBox="1"/>
          <p:nvPr/>
        </p:nvSpPr>
        <p:spPr>
          <a:xfrm>
            <a:off x="552052" y="1241050"/>
            <a:ext cx="77516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Traefik</a:t>
            </a:r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dirty="0">
                <a:latin typeface="Book Antiqua" panose="02040602050305030304" pitchFamily="18" charset="0"/>
                <a:cs typeface="Aharoni" panose="02010803020104030203" pitchFamily="2" charset="-79"/>
              </a:rPr>
              <a:t>Acts as modern Reverse Proxy and Load Balancer for DMZ services (automatic TLS &amp; routing) </a:t>
            </a:r>
          </a:p>
          <a:p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Squid:</a:t>
            </a: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dirty="0">
                <a:latin typeface="Book Antiqua" panose="02040602050305030304" pitchFamily="18" charset="0"/>
                <a:cs typeface="Aharoni" panose="02010803020104030203" pitchFamily="2" charset="-79"/>
              </a:rPr>
              <a:t>Forward Proxy with caching and content filtering capabilities for outbound traffic </a:t>
            </a:r>
          </a:p>
          <a:p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Combined Role:</a:t>
            </a:r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000" dirty="0">
                <a:latin typeface="Book Antiqua" panose="02040602050305030304" pitchFamily="18" charset="0"/>
                <a:cs typeface="Aharoni" panose="02010803020104030203" pitchFamily="2" charset="-79"/>
              </a:rPr>
              <a:t>Controls and inspects both inbound and outbound web traffic in DMZ zone </a:t>
            </a:r>
          </a:p>
          <a:p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Key Achievement</a:t>
            </a:r>
            <a:r>
              <a:rPr lang="en-US" sz="2000" dirty="0">
                <a:latin typeface="Book Antiqua" panose="02040602050305030304" pitchFamily="18" charset="0"/>
                <a:cs typeface="Aharoni" panose="02010803020104030203" pitchFamily="2" charset="-79"/>
              </a:rPr>
              <a:t>: Docker-based, auto-start on boot, handles HTTP/HTTPS traffic efficiently</a:t>
            </a:r>
          </a:p>
        </p:txBody>
      </p:sp>
    </p:spTree>
    <p:extLst>
      <p:ext uri="{BB962C8B-B14F-4D97-AF65-F5344CB8AC3E}">
        <p14:creationId xmlns:p14="http://schemas.microsoft.com/office/powerpoint/2010/main" val="331779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EF09-AB6B-3133-D9B8-DADFFE61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4E97B07-3F97-61A1-1EE0-BB00A767750D}"/>
              </a:ext>
            </a:extLst>
          </p:cNvPr>
          <p:cNvSpPr txBox="1"/>
          <p:nvPr/>
        </p:nvSpPr>
        <p:spPr>
          <a:xfrm>
            <a:off x="552052" y="576302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Eras Bold ITC" panose="020B0907030504020204" pitchFamily="34" charset="0"/>
              </a:rPr>
              <a:t>Arkime</a:t>
            </a:r>
            <a:r>
              <a:rPr lang="en-US" sz="3200" dirty="0">
                <a:latin typeface="Eras Bold ITC" panose="020B0907030504020204" pitchFamily="34" charset="0"/>
              </a:rPr>
              <a:t> – Full Packet Capture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81B8FB-4715-DF16-0A0B-D6C676F2C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33" y="7296130"/>
            <a:ext cx="12650965" cy="1486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484EA7-0F0F-79C3-C7FB-0E01636AD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1650643"/>
            <a:ext cx="7045548" cy="42446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18AAA7-0F85-0C3F-7408-2EC0183E9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803" y="6120689"/>
            <a:ext cx="9807658" cy="806109"/>
          </a:xfrm>
          <a:prstGeom prst="rect">
            <a:avLst/>
          </a:prstGeom>
        </p:spPr>
      </p:pic>
      <p:pic>
        <p:nvPicPr>
          <p:cNvPr id="21" name="Picture 20" descr="‪GitHub - arkime/arkime: Arkime is an open source, large scale, full packet  capturing, indexing, and database system. · GitHub‬‏">
            <a:extLst>
              <a:ext uri="{FF2B5EF4-FFF2-40B4-BE49-F238E27FC236}">
                <a16:creationId xmlns:a16="http://schemas.microsoft.com/office/drawing/2014/main" id="{F35A9173-68FF-426D-447B-E7E0B13A7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748" y="282901"/>
            <a:ext cx="3886200" cy="11715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13957B1-9C17-F274-34A0-7598AF4D28E6}"/>
              </a:ext>
            </a:extLst>
          </p:cNvPr>
          <p:cNvSpPr txBox="1"/>
          <p:nvPr/>
        </p:nvSpPr>
        <p:spPr>
          <a:xfrm>
            <a:off x="6215449" y="6926798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Arkime</a:t>
            </a: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services status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5EDDA-2857-F54B-ED0F-6F4F5FD716AA}"/>
              </a:ext>
            </a:extLst>
          </p:cNvPr>
          <p:cNvSpPr txBox="1"/>
          <p:nvPr/>
        </p:nvSpPr>
        <p:spPr>
          <a:xfrm>
            <a:off x="6468273" y="8774668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arkimecapte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procuress</a:t>
            </a:r>
            <a:endParaRPr lang="en-US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D008D6-501B-0E4B-2E96-95DDF65E3EF2}"/>
              </a:ext>
            </a:extLst>
          </p:cNvPr>
          <p:cNvSpPr txBox="1"/>
          <p:nvPr/>
        </p:nvSpPr>
        <p:spPr>
          <a:xfrm>
            <a:off x="552052" y="1525012"/>
            <a:ext cx="71956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Full Packet Capture: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Captures and stores 100% of network traffic passing through DMZ </a:t>
            </a:r>
          </a:p>
          <a:p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Elasticsearch Backend: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Indexes packet metadata for fast searching and session reconstruction </a:t>
            </a:r>
          </a:p>
          <a:p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Web Interface: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Allows easy searching, filtering, and replaying of network sessions </a:t>
            </a:r>
          </a:p>
          <a:p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Key Role: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>
                <a:latin typeface="Book Antiqua" panose="02040602050305030304" pitchFamily="18" charset="0"/>
                <a:cs typeface="Aharoni" panose="02010803020104030203" pitchFamily="2" charset="-79"/>
              </a:rPr>
              <a:t>Provides forensic-level visibility and evidence collection for security incidents</a:t>
            </a:r>
          </a:p>
        </p:txBody>
      </p:sp>
    </p:spTree>
    <p:extLst>
      <p:ext uri="{BB962C8B-B14F-4D97-AF65-F5344CB8AC3E}">
        <p14:creationId xmlns:p14="http://schemas.microsoft.com/office/powerpoint/2010/main" val="2788937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DBDD-A6E6-D30E-2157-6941E1A3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A990A3E-46C6-C6AA-4F22-E68F3BB3785A}"/>
              </a:ext>
            </a:extLst>
          </p:cNvPr>
          <p:cNvSpPr txBox="1"/>
          <p:nvPr/>
        </p:nvSpPr>
        <p:spPr>
          <a:xfrm>
            <a:off x="552052" y="576302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NGINX Server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DD98F-C1AB-49A4-CDEB-50109176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506" y="6334002"/>
            <a:ext cx="8541999" cy="847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189F8F-86ED-A7FD-BC04-EDC260FAB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006" y="7551013"/>
            <a:ext cx="10593750" cy="92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37BA8-9EA8-53FA-E07C-2D74B49A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12" y="2254547"/>
            <a:ext cx="5889838" cy="2927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A40D35-882B-393A-9472-A7215CA9D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881" y="1876048"/>
            <a:ext cx="8072034" cy="3684493"/>
          </a:xfrm>
          <a:prstGeom prst="rect">
            <a:avLst/>
          </a:prstGeom>
        </p:spPr>
      </p:pic>
      <p:pic>
        <p:nvPicPr>
          <p:cNvPr id="10" name="Picture 9" descr="‪Nginx 1.18.0 is here and these are its most important changes‬‏">
            <a:extLst>
              <a:ext uri="{FF2B5EF4-FFF2-40B4-BE49-F238E27FC236}">
                <a16:creationId xmlns:a16="http://schemas.microsoft.com/office/drawing/2014/main" id="{0016AF53-411F-230F-EC11-AA3D5A987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3085" y="228182"/>
            <a:ext cx="3381375" cy="1352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43CDAB-AE32-4FC7-5D7C-15DFC9B4E32C}"/>
              </a:ext>
            </a:extLst>
          </p:cNvPr>
          <p:cNvSpPr txBox="1"/>
          <p:nvPr/>
        </p:nvSpPr>
        <p:spPr>
          <a:xfrm>
            <a:off x="10948087" y="5572212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nginx 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15CA7-5355-B1F7-8AB5-7190E6A19BC8}"/>
              </a:ext>
            </a:extLst>
          </p:cNvPr>
          <p:cNvSpPr txBox="1"/>
          <p:nvPr/>
        </p:nvSpPr>
        <p:spPr>
          <a:xfrm>
            <a:off x="6944613" y="7181681"/>
            <a:ext cx="953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nginx -t success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782E80-DAB6-6026-7E76-63A21E85D82D}"/>
              </a:ext>
            </a:extLst>
          </p:cNvPr>
          <p:cNvSpPr txBox="1"/>
          <p:nvPr/>
        </p:nvSpPr>
        <p:spPr>
          <a:xfrm>
            <a:off x="7179595" y="8505684"/>
            <a:ext cx="953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nginx ports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B70BDF-A512-A213-6F28-DB2C758FF70B}"/>
              </a:ext>
            </a:extLst>
          </p:cNvPr>
          <p:cNvSpPr txBox="1"/>
          <p:nvPr/>
        </p:nvSpPr>
        <p:spPr>
          <a:xfrm>
            <a:off x="2881415" y="5202772"/>
            <a:ext cx="953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curl localhost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791D64-1A5B-45C4-56D2-7B78C1221237}"/>
              </a:ext>
            </a:extLst>
          </p:cNvPr>
          <p:cNvSpPr txBox="1"/>
          <p:nvPr/>
        </p:nvSpPr>
        <p:spPr>
          <a:xfrm>
            <a:off x="860911" y="1205978"/>
            <a:ext cx="812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Serves web content and acts as reverse proxy</a:t>
            </a:r>
            <a:endParaRPr lang="en-US" sz="24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7110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94AC0-7D16-6041-DE00-C868ACD2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2D60838-0E9C-B2D2-2B62-11AEF9E562C0}"/>
              </a:ext>
            </a:extLst>
          </p:cNvPr>
          <p:cNvSpPr txBox="1"/>
          <p:nvPr/>
        </p:nvSpPr>
        <p:spPr>
          <a:xfrm>
            <a:off x="552052" y="576302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 </a:t>
            </a:r>
            <a:r>
              <a:rPr lang="en-US" sz="3200" dirty="0" err="1">
                <a:latin typeface="Eras Bold ITC" panose="020B0907030504020204" pitchFamily="34" charset="0"/>
              </a:rPr>
              <a:t>MailCow</a:t>
            </a:r>
            <a:r>
              <a:rPr lang="en-US" sz="3200" dirty="0">
                <a:latin typeface="Eras Bold ITC" panose="020B0907030504020204" pitchFamily="34" charset="0"/>
              </a:rPr>
              <a:t> Server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DCD5C-31B1-253D-8E49-A84774EDF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06" y="1948722"/>
            <a:ext cx="7059710" cy="2808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EBA8F0-DA7B-19BA-0A44-500E2D06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931" y="227904"/>
            <a:ext cx="5956555" cy="4700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670983-90EE-A2FD-2B6C-88B951534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306" y="5100316"/>
            <a:ext cx="13954780" cy="3516809"/>
          </a:xfrm>
          <a:prstGeom prst="rect">
            <a:avLst/>
          </a:prstGeom>
        </p:spPr>
      </p:pic>
      <p:pic>
        <p:nvPicPr>
          <p:cNvPr id="16" name="Picture 15" descr="‪Set up a professional mailcow mail server with dns, spf, dkim, dmarc by  Nyyylo | Fiverr‬‏">
            <a:extLst>
              <a:ext uri="{FF2B5EF4-FFF2-40B4-BE49-F238E27FC236}">
                <a16:creationId xmlns:a16="http://schemas.microsoft.com/office/drawing/2014/main" id="{7BBE4159-6B57-7ACB-4143-4B59755B1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474" y="138858"/>
            <a:ext cx="2781300" cy="1638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D5564D-8D0B-CC7F-CD29-29207C449CC0}"/>
              </a:ext>
            </a:extLst>
          </p:cNvPr>
          <p:cNvSpPr txBox="1"/>
          <p:nvPr/>
        </p:nvSpPr>
        <p:spPr>
          <a:xfrm>
            <a:off x="2582563" y="1062193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Complete email solution</a:t>
            </a:r>
          </a:p>
        </p:txBody>
      </p:sp>
    </p:spTree>
    <p:extLst>
      <p:ext uri="{BB962C8B-B14F-4D97-AF65-F5344CB8AC3E}">
        <p14:creationId xmlns:p14="http://schemas.microsoft.com/office/powerpoint/2010/main" val="1337219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312B31A-4633-76AD-04DF-57F7171EE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27" y="0"/>
            <a:ext cx="16301854" cy="914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5A8E25-6D3B-BA74-87D3-9A226CDDE9F7}"/>
              </a:ext>
            </a:extLst>
          </p:cNvPr>
          <p:cNvSpPr txBox="1"/>
          <p:nvPr/>
        </p:nvSpPr>
        <p:spPr>
          <a:xfrm>
            <a:off x="8353168" y="4572000"/>
            <a:ext cx="5165124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Centralized Authentication, Authorization, Certificate Authority, and Secrets Management for the Zero Trust Architecture</a:t>
            </a:r>
            <a:endParaRPr lang="en-US" dirty="0">
              <a:solidFill>
                <a:schemeClr val="bg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72B778-CC6F-8A0D-C337-5A2EFC62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462"/>
            <a:ext cx="16256000" cy="918345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754C472-E5A9-E873-1787-BC02346C8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34" y="1557866"/>
            <a:ext cx="6023198" cy="25738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DAB5C69-E9F4-BE40-DF45-B9BA6F768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266" y="6304141"/>
            <a:ext cx="2302933" cy="2302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ABD128D-91E2-2FC9-B5B9-03AA8135F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34" y="4912078"/>
            <a:ext cx="3318933" cy="3318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3408C91-6501-5AE4-0F83-8B39D009FD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1" y="4694058"/>
            <a:ext cx="4914900" cy="27615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AB80A6D-9209-3B28-FE94-1B71CBEBCE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754" y="1961369"/>
            <a:ext cx="3257968" cy="24403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817FE3B-A81E-80EB-ECDE-F166177B3E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876" y="5355874"/>
            <a:ext cx="3048000" cy="20997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933DADB-8FC7-2E10-006B-FF48A0CFA6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743" y="1490132"/>
            <a:ext cx="4717145" cy="26416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2" name="Picture 81" descr="Neo4j - Wikipedia">
            <a:extLst>
              <a:ext uri="{FF2B5EF4-FFF2-40B4-BE49-F238E27FC236}">
                <a16:creationId xmlns:a16="http://schemas.microsoft.com/office/drawing/2014/main" id="{1BACE3FD-E006-AA5A-54E8-3DDD6BA2B6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4165" y="7663744"/>
            <a:ext cx="3191933" cy="11345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A80076-5EC6-B359-759A-81541E60DB6B}"/>
              </a:ext>
            </a:extLst>
          </p:cNvPr>
          <p:cNvSpPr txBox="1"/>
          <p:nvPr/>
        </p:nvSpPr>
        <p:spPr>
          <a:xfrm>
            <a:off x="5857101" y="395635"/>
            <a:ext cx="82543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bg1"/>
                </a:solidFill>
                <a:effectLst/>
                <a:latin typeface="Eras Bold ITC" panose="020B0907030504020204" pitchFamily="34" charset="0"/>
              </a:rPr>
              <a:t>Technology Stack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75C7-68FC-5CF8-FA10-30BBA312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on cyber-tech identity and PKI diagram">
            <a:extLst>
              <a:ext uri="{FF2B5EF4-FFF2-40B4-BE49-F238E27FC236}">
                <a16:creationId xmlns:a16="http://schemas.microsoft.com/office/drawing/2014/main" id="{8DC9BB49-2637-EEA5-13E6-057218C7C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2880"/>
            <a:ext cx="16256000" cy="931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118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D883-C2E5-2CC5-D11C-74F85D94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chine 2 identity and authentication flow">
            <a:extLst>
              <a:ext uri="{FF2B5EF4-FFF2-40B4-BE49-F238E27FC236}">
                <a16:creationId xmlns:a16="http://schemas.microsoft.com/office/drawing/2014/main" id="{E8AAD720-DFE0-0060-90E1-4A4B00F38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322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95324" y="971715"/>
            <a:ext cx="575824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Directory-M2 – Samba Active Directory + Consul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4CE21B-2FFC-3270-6755-3371098FFDCE}"/>
              </a:ext>
            </a:extLst>
          </p:cNvPr>
          <p:cNvGrpSpPr/>
          <p:nvPr/>
        </p:nvGrpSpPr>
        <p:grpSpPr>
          <a:xfrm>
            <a:off x="-138698" y="-1865959"/>
            <a:ext cx="12333930" cy="11201320"/>
            <a:chOff x="-93163" y="-811529"/>
            <a:chExt cx="12333930" cy="11201320"/>
          </a:xfrm>
        </p:grpSpPr>
        <p:sp>
          <p:nvSpPr>
            <p:cNvPr id="2" name="Freeform 2"/>
            <p:cNvSpPr/>
            <p:nvPr/>
          </p:nvSpPr>
          <p:spPr>
            <a:xfrm>
              <a:off x="-93163" y="1143458"/>
              <a:ext cx="11326367" cy="7291348"/>
            </a:xfrm>
            <a:custGeom>
              <a:avLst/>
              <a:gdLst/>
              <a:ahLst/>
              <a:cxnLst/>
              <a:rect l="l" t="t" r="r" b="b"/>
              <a:pathLst>
                <a:path w="12742163" h="8202767">
                  <a:moveTo>
                    <a:pt x="0" y="0"/>
                  </a:moveTo>
                  <a:lnTo>
                    <a:pt x="12742163" y="0"/>
                  </a:lnTo>
                  <a:lnTo>
                    <a:pt x="12742163" y="8202768"/>
                  </a:lnTo>
                  <a:lnTo>
                    <a:pt x="0" y="82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3" name="Group 3"/>
            <p:cNvGrpSpPr/>
            <p:nvPr/>
          </p:nvGrpSpPr>
          <p:grpSpPr>
            <a:xfrm>
              <a:off x="-93163" y="8009588"/>
              <a:ext cx="1696289" cy="2380203"/>
              <a:chOff x="0" y="0"/>
              <a:chExt cx="416076" cy="5838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16076" cy="583830"/>
              </a:xfrm>
              <a:custGeom>
                <a:avLst/>
                <a:gdLst/>
                <a:ahLst/>
                <a:cxnLst/>
                <a:rect l="l" t="t" r="r" b="b"/>
                <a:pathLst>
                  <a:path w="416076" h="583830">
                    <a:moveTo>
                      <a:pt x="0" y="0"/>
                    </a:moveTo>
                    <a:lnTo>
                      <a:pt x="416076" y="0"/>
                    </a:lnTo>
                    <a:lnTo>
                      <a:pt x="416076" y="583830"/>
                    </a:lnTo>
                    <a:lnTo>
                      <a:pt x="0" y="583830"/>
                    </a:lnTo>
                    <a:close/>
                  </a:path>
                </a:pathLst>
              </a:custGeom>
              <a:solidFill>
                <a:srgbClr val="81D7B8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416076" cy="602880"/>
              </a:xfrm>
              <a:prstGeom prst="rect">
                <a:avLst/>
              </a:prstGeom>
            </p:spPr>
            <p:txBody>
              <a:bodyPr lIns="45156" tIns="45156" rIns="45156" bIns="45156" rtlCol="0" anchor="ctr"/>
              <a:lstStyle/>
              <a:p>
                <a:pPr algn="ctr">
                  <a:lnSpc>
                    <a:spcPts val="2029"/>
                  </a:lnSpc>
                </a:pPr>
                <a:endParaRPr sz="16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530450" y="-811529"/>
              <a:ext cx="2710317" cy="2468818"/>
              <a:chOff x="-248727" y="-19050"/>
              <a:chExt cx="664803" cy="60556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48727" y="2686"/>
                <a:ext cx="416076" cy="583830"/>
              </a:xfrm>
              <a:custGeom>
                <a:avLst/>
                <a:gdLst/>
                <a:ahLst/>
                <a:cxnLst/>
                <a:rect l="l" t="t" r="r" b="b"/>
                <a:pathLst>
                  <a:path w="416076" h="583830">
                    <a:moveTo>
                      <a:pt x="0" y="0"/>
                    </a:moveTo>
                    <a:lnTo>
                      <a:pt x="416076" y="0"/>
                    </a:lnTo>
                    <a:lnTo>
                      <a:pt x="416076" y="583830"/>
                    </a:lnTo>
                    <a:lnTo>
                      <a:pt x="0" y="583830"/>
                    </a:lnTo>
                    <a:close/>
                  </a:path>
                </a:pathLst>
              </a:custGeom>
              <a:solidFill>
                <a:srgbClr val="7B7BD4"/>
              </a:solidFill>
            </p:spPr>
            <p:txBody>
              <a:bodyPr/>
              <a:lstStyle/>
              <a:p>
                <a:endParaRPr lang="en-US" sz="16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416076" cy="602880"/>
              </a:xfrm>
              <a:prstGeom prst="rect">
                <a:avLst/>
              </a:prstGeom>
            </p:spPr>
            <p:txBody>
              <a:bodyPr lIns="45156" tIns="45156" rIns="45156" bIns="45156" rtlCol="0" anchor="ctr"/>
              <a:lstStyle/>
              <a:p>
                <a:pPr algn="ctr">
                  <a:lnSpc>
                    <a:spcPts val="2029"/>
                  </a:lnSpc>
                </a:pPr>
                <a:endParaRPr sz="16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8015290" y="2271932"/>
              <a:ext cx="3105204" cy="11491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2489" dirty="0">
                  <a:latin typeface="Aharoni" panose="02010803020104030203" pitchFamily="2" charset="-79"/>
                  <a:cs typeface="Aharoni" panose="02010803020104030203" pitchFamily="2" charset="-79"/>
                </a:rPr>
                <a:t>Samba AD Domain Controller (zerotrust.lab)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1604" y="4208375"/>
              <a:ext cx="2517907" cy="1149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489" dirty="0">
                  <a:latin typeface="Aharoni" panose="02010803020104030203" pitchFamily="2" charset="-79"/>
                  <a:cs typeface="Aharoni" panose="02010803020104030203" pitchFamily="2" charset="-79"/>
                </a:rPr>
                <a:t>Consul Service Mesh (5/5 nodes healthy)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2263" y="6147938"/>
              <a:ext cx="2517907" cy="1149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489" dirty="0">
                  <a:latin typeface="Aharoni" panose="02010803020104030203" pitchFamily="2" charset="-79"/>
                  <a:cs typeface="Aharoni" panose="02010803020104030203" pitchFamily="2" charset="-79"/>
                </a:rPr>
                <a:t>Central directory for users, groups &amp; policies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06666" y="6332079"/>
              <a:ext cx="689187" cy="689187"/>
            </a:xfrm>
            <a:custGeom>
              <a:avLst/>
              <a:gdLst/>
              <a:ahLst/>
              <a:cxnLst/>
              <a:rect l="l" t="t" r="r" b="b"/>
              <a:pathLst>
                <a:path w="775335" h="775335">
                  <a:moveTo>
                    <a:pt x="0" y="0"/>
                  </a:moveTo>
                  <a:lnTo>
                    <a:pt x="775335" y="0"/>
                  </a:lnTo>
                  <a:lnTo>
                    <a:pt x="775335" y="775335"/>
                  </a:lnTo>
                  <a:lnTo>
                    <a:pt x="0" y="77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169257" y="4320917"/>
              <a:ext cx="689187" cy="689187"/>
            </a:xfrm>
            <a:custGeom>
              <a:avLst/>
              <a:gdLst/>
              <a:ahLst/>
              <a:cxnLst/>
              <a:rect l="l" t="t" r="r" b="b"/>
              <a:pathLst>
                <a:path w="775335" h="775335">
                  <a:moveTo>
                    <a:pt x="0" y="0"/>
                  </a:moveTo>
                  <a:lnTo>
                    <a:pt x="775335" y="0"/>
                  </a:lnTo>
                  <a:lnTo>
                    <a:pt x="775335" y="775335"/>
                  </a:lnTo>
                  <a:lnTo>
                    <a:pt x="0" y="77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41823" y="2449262"/>
              <a:ext cx="660757" cy="689187"/>
            </a:xfrm>
            <a:custGeom>
              <a:avLst/>
              <a:gdLst/>
              <a:ahLst/>
              <a:cxnLst/>
              <a:rect l="l" t="t" r="r" b="b"/>
              <a:pathLst>
                <a:path w="743352" h="775335">
                  <a:moveTo>
                    <a:pt x="0" y="0"/>
                  </a:moveTo>
                  <a:lnTo>
                    <a:pt x="743352" y="0"/>
                  </a:lnTo>
                  <a:lnTo>
                    <a:pt x="743352" y="775335"/>
                  </a:lnTo>
                  <a:lnTo>
                    <a:pt x="0" y="77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C8149A26-99DD-08FD-9FE0-FA1EE507E7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926" y="7043912"/>
            <a:ext cx="10263032" cy="146493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2196B92-C14C-C711-A5A2-596F9E0B65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2981306"/>
            <a:ext cx="7454975" cy="36364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E99D63-4722-1A02-C917-11C7AA685A25}"/>
              </a:ext>
            </a:extLst>
          </p:cNvPr>
          <p:cNvSpPr txBox="1"/>
          <p:nvPr/>
        </p:nvSpPr>
        <p:spPr>
          <a:xfrm>
            <a:off x="12848743" y="3649734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Directory 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FD411-1EC6-E8D4-DCAF-7846C82E89E4}"/>
              </a:ext>
            </a:extLst>
          </p:cNvPr>
          <p:cNvSpPr txBox="1"/>
          <p:nvPr/>
        </p:nvSpPr>
        <p:spPr>
          <a:xfrm>
            <a:off x="7737165" y="8501514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Consul Running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E50E-F0AF-1741-DA78-AEC5EBD5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yberpunk PKI and secrets management flow">
            <a:extLst>
              <a:ext uri="{FF2B5EF4-FFF2-40B4-BE49-F238E27FC236}">
                <a16:creationId xmlns:a16="http://schemas.microsoft.com/office/drawing/2014/main" id="{B1083873-EC7F-A59F-F90C-5A8AFC0C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705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B491-8A26-3475-AC2F-2AB9A764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2">
            <a:extLst>
              <a:ext uri="{FF2B5EF4-FFF2-40B4-BE49-F238E27FC236}">
                <a16:creationId xmlns:a16="http://schemas.microsoft.com/office/drawing/2014/main" id="{CED0E7F9-9678-AEC9-6B40-1294614B8E74}"/>
              </a:ext>
            </a:extLst>
          </p:cNvPr>
          <p:cNvSpPr txBox="1"/>
          <p:nvPr/>
        </p:nvSpPr>
        <p:spPr>
          <a:xfrm>
            <a:off x="839344" y="678972"/>
            <a:ext cx="831701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latin typeface="Eras Bold ITC" panose="020B0907030504020204" pitchFamily="34" charset="0"/>
              </a:rPr>
              <a:t>Operational Status &amp; Hardening</a:t>
            </a:r>
            <a:endParaRPr lang="en-US" sz="40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0E536-AA4D-EFD7-3F36-0AA9EC4DF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2402769"/>
            <a:ext cx="13259781" cy="4049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7555C-F399-6647-031F-423621E1D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35" y="7095801"/>
            <a:ext cx="15636663" cy="14311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85A789-AA8D-91EF-6FAB-72E3D3E036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877" y="239391"/>
            <a:ext cx="6139190" cy="3107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A9B957-35F8-5AC0-207F-D00E289B0736}"/>
              </a:ext>
            </a:extLst>
          </p:cNvPr>
          <p:cNvSpPr txBox="1"/>
          <p:nvPr/>
        </p:nvSpPr>
        <p:spPr>
          <a:xfrm>
            <a:off x="13329225" y="1034990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Hashi Corp Vault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2A2C5-3F52-D9C5-FF38-B6F2DA74DA23}"/>
              </a:ext>
            </a:extLst>
          </p:cNvPr>
          <p:cNvSpPr txBox="1"/>
          <p:nvPr/>
        </p:nvSpPr>
        <p:spPr>
          <a:xfrm>
            <a:off x="5653279" y="3375279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Step ca for small certificates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AE80E-C8A7-9493-D0B4-A73AD4DAE251}"/>
              </a:ext>
            </a:extLst>
          </p:cNvPr>
          <p:cNvSpPr txBox="1"/>
          <p:nvPr/>
        </p:nvSpPr>
        <p:spPr>
          <a:xfrm>
            <a:off x="12263097" y="737617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Conjur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x EJBCA</a:t>
            </a:r>
          </a:p>
        </p:txBody>
      </p:sp>
    </p:spTree>
    <p:extLst>
      <p:ext uri="{BB962C8B-B14F-4D97-AF65-F5344CB8AC3E}">
        <p14:creationId xmlns:p14="http://schemas.microsoft.com/office/powerpoint/2010/main" val="1529484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779E-E5CA-CC54-D600-22E58E31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2">
            <a:extLst>
              <a:ext uri="{FF2B5EF4-FFF2-40B4-BE49-F238E27FC236}">
                <a16:creationId xmlns:a16="http://schemas.microsoft.com/office/drawing/2014/main" id="{D901BE4A-BF50-1847-4780-2BF8B144D7C7}"/>
              </a:ext>
            </a:extLst>
          </p:cNvPr>
          <p:cNvSpPr txBox="1"/>
          <p:nvPr/>
        </p:nvSpPr>
        <p:spPr>
          <a:xfrm>
            <a:off x="10974011" y="1704332"/>
            <a:ext cx="5113867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  <a:cs typeface="Raavi" panose="020B0502040204020203" pitchFamily="34" charset="0"/>
              </a:rPr>
              <a:t>Identity-Core-M2</a:t>
            </a:r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EC31B82B-CF0C-07E9-C5C3-A1F87990D765}"/>
              </a:ext>
            </a:extLst>
          </p:cNvPr>
          <p:cNvSpPr/>
          <p:nvPr/>
        </p:nvSpPr>
        <p:spPr>
          <a:xfrm flipH="1">
            <a:off x="478440" y="1265129"/>
            <a:ext cx="12708622" cy="7071721"/>
          </a:xfrm>
          <a:custGeom>
            <a:avLst/>
            <a:gdLst/>
            <a:ahLst/>
            <a:cxnLst/>
            <a:rect l="l" t="t" r="r" b="b"/>
            <a:pathLst>
              <a:path w="11101318" h="6535901">
                <a:moveTo>
                  <a:pt x="11101318" y="0"/>
                </a:moveTo>
                <a:lnTo>
                  <a:pt x="0" y="0"/>
                </a:lnTo>
                <a:lnTo>
                  <a:pt x="0" y="6535902"/>
                </a:lnTo>
                <a:lnTo>
                  <a:pt x="11101318" y="6535902"/>
                </a:lnTo>
                <a:lnTo>
                  <a:pt x="111013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D6C84E-100A-A9D2-2DBA-FA7CBF1D3264}"/>
              </a:ext>
            </a:extLst>
          </p:cNvPr>
          <p:cNvSpPr txBox="1"/>
          <p:nvPr/>
        </p:nvSpPr>
        <p:spPr>
          <a:xfrm>
            <a:off x="328332" y="4274888"/>
            <a:ext cx="3228932" cy="124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89" dirty="0" err="1">
                <a:latin typeface="Eras Bold ITC" panose="020B0907030504020204" pitchFamily="34" charset="0"/>
                <a:cs typeface="Raavi" panose="020B0502040204020203" pitchFamily="34" charset="0"/>
              </a:rPr>
              <a:t>Keycloak</a:t>
            </a:r>
            <a:r>
              <a:rPr lang="en-US" sz="2489" dirty="0">
                <a:latin typeface="Eras Bold ITC" panose="020B0907030504020204" pitchFamily="34" charset="0"/>
                <a:cs typeface="Raavi" panose="020B0502040204020203" pitchFamily="34" charset="0"/>
              </a:rPr>
              <a:t> Identity Provider (OIDC/SAML)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887029-621A-494A-EE01-4469DE05A2AF}"/>
              </a:ext>
            </a:extLst>
          </p:cNvPr>
          <p:cNvSpPr txBox="1"/>
          <p:nvPr/>
        </p:nvSpPr>
        <p:spPr>
          <a:xfrm>
            <a:off x="3984059" y="5653544"/>
            <a:ext cx="2354896" cy="124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89" dirty="0" err="1">
                <a:latin typeface="Eras Bold ITC" panose="020B0907030504020204" pitchFamily="34" charset="0"/>
                <a:cs typeface="Raavi" panose="020B0502040204020203" pitchFamily="34" charset="0"/>
              </a:rPr>
              <a:t>OpenLDAP</a:t>
            </a:r>
            <a:r>
              <a:rPr lang="en-US" sz="2489" dirty="0">
                <a:latin typeface="Eras Bold ITC" panose="020B0907030504020204" pitchFamily="34" charset="0"/>
                <a:cs typeface="Raavi" panose="020B0502040204020203" pitchFamily="34" charset="0"/>
              </a:rPr>
              <a:t> Directory Service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3E3F3C-B866-C918-20F6-AAC3D5458406}"/>
              </a:ext>
            </a:extLst>
          </p:cNvPr>
          <p:cNvSpPr txBox="1"/>
          <p:nvPr/>
        </p:nvSpPr>
        <p:spPr>
          <a:xfrm>
            <a:off x="10549122" y="5772082"/>
            <a:ext cx="8439573" cy="475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89" dirty="0">
                <a:latin typeface="Eras Bold ITC" panose="020B0907030504020204" pitchFamily="34" charset="0"/>
                <a:cs typeface="Raavi" panose="020B0502040204020203" pitchFamily="34" charset="0"/>
              </a:rPr>
              <a:t>Kerberos KDC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2FAE64-C813-7224-9411-4454EE86C93C}"/>
              </a:ext>
            </a:extLst>
          </p:cNvPr>
          <p:cNvSpPr txBox="1"/>
          <p:nvPr/>
        </p:nvSpPr>
        <p:spPr>
          <a:xfrm>
            <a:off x="7041322" y="4572000"/>
            <a:ext cx="2929395" cy="124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89" dirty="0" err="1">
                <a:latin typeface="Eras Bold ITC" panose="020B0907030504020204" pitchFamily="34" charset="0"/>
                <a:cs typeface="Raavi" panose="020B0502040204020203" pitchFamily="34" charset="0"/>
              </a:rPr>
              <a:t>FreeRADIUS</a:t>
            </a:r>
            <a:r>
              <a:rPr lang="en-US" sz="2489" dirty="0">
                <a:latin typeface="Eras Bold ITC" panose="020B0907030504020204" pitchFamily="34" charset="0"/>
                <a:cs typeface="Raavi" panose="020B0502040204020203" pitchFamily="34" charset="0"/>
              </a:rPr>
              <a:t> (802.1X Network Authentication)</a:t>
            </a:r>
          </a:p>
        </p:txBody>
      </p:sp>
    </p:spTree>
    <p:extLst>
      <p:ext uri="{BB962C8B-B14F-4D97-AF65-F5344CB8AC3E}">
        <p14:creationId xmlns:p14="http://schemas.microsoft.com/office/powerpoint/2010/main" val="4282148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7E297-49C0-F6C8-E021-5DD5A9DB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2">
            <a:extLst>
              <a:ext uri="{FF2B5EF4-FFF2-40B4-BE49-F238E27FC236}">
                <a16:creationId xmlns:a16="http://schemas.microsoft.com/office/drawing/2014/main" id="{31FE0AA7-4EC6-1AC5-043A-9EB495A75A00}"/>
              </a:ext>
            </a:extLst>
          </p:cNvPr>
          <p:cNvSpPr txBox="1"/>
          <p:nvPr/>
        </p:nvSpPr>
        <p:spPr>
          <a:xfrm>
            <a:off x="203200" y="263488"/>
            <a:ext cx="5113867" cy="601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911" dirty="0">
                <a:latin typeface="Eras Bold ITC" panose="020B0907030504020204" pitchFamily="34" charset="0"/>
              </a:rPr>
              <a:t>Status? -&gt;Test User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3F286B-EEE6-520C-712E-873D0170F664}"/>
              </a:ext>
            </a:extLst>
          </p:cNvPr>
          <p:cNvGrpSpPr/>
          <p:nvPr/>
        </p:nvGrpSpPr>
        <p:grpSpPr>
          <a:xfrm>
            <a:off x="463421" y="4771793"/>
            <a:ext cx="15560556" cy="4223926"/>
            <a:chOff x="463421" y="4920074"/>
            <a:chExt cx="15560556" cy="42239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2443064-9C54-05D4-BF62-CF9E2DF5E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421" y="4920074"/>
              <a:ext cx="15560556" cy="422392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CAA1049-193C-CBAA-73C8-5A2108E0734F}"/>
                </a:ext>
              </a:extLst>
            </p:cNvPr>
            <p:cNvSpPr txBox="1"/>
            <p:nvPr/>
          </p:nvSpPr>
          <p:spPr>
            <a:xfrm>
              <a:off x="8911486" y="5771805"/>
              <a:ext cx="3167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Identity Check by </a:t>
              </a:r>
              <a:r>
                <a:rPr lang="en-US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Keycloak</a:t>
              </a:r>
              <a:endPara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B756642-FE29-8412-399B-B001F65C9027}"/>
              </a:ext>
            </a:extLst>
          </p:cNvPr>
          <p:cNvGrpSpPr/>
          <p:nvPr/>
        </p:nvGrpSpPr>
        <p:grpSpPr>
          <a:xfrm>
            <a:off x="4658497" y="865319"/>
            <a:ext cx="11159524" cy="3751112"/>
            <a:chOff x="4264578" y="946826"/>
            <a:chExt cx="11732018" cy="38961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3CC6810-B1BE-51BD-9E7A-82951F29D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4578" y="946826"/>
              <a:ext cx="11732018" cy="389610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2765A-234E-2C82-4EC4-8A1F05E4B3D0}"/>
                </a:ext>
              </a:extLst>
            </p:cNvPr>
            <p:cNvSpPr txBox="1"/>
            <p:nvPr/>
          </p:nvSpPr>
          <p:spPr>
            <a:xfrm>
              <a:off x="11621735" y="1732545"/>
              <a:ext cx="37561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Ldap</a:t>
              </a:r>
              <a:r>
                <a:rPr lang="en-US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/</a:t>
              </a:r>
              <a:r>
                <a:rPr lang="en-US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keycloak</a:t>
              </a:r>
              <a:r>
                <a:rPr lang="en-US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/</a:t>
              </a:r>
              <a:r>
                <a:rPr lang="en-US" dirty="0" err="1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kerberoes</a:t>
              </a:r>
              <a:r>
                <a:rPr lang="en-US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/radius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837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EAAE-6835-0FB5-8BE4-A85DF536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8A68998-53CE-7A78-9842-21A77FCD56E5}"/>
              </a:ext>
            </a:extLst>
          </p:cNvPr>
          <p:cNvSpPr txBox="1"/>
          <p:nvPr/>
        </p:nvSpPr>
        <p:spPr>
          <a:xfrm>
            <a:off x="400740" y="572487"/>
            <a:ext cx="6213002" cy="639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556" dirty="0" err="1">
                <a:latin typeface="Eras Bold ITC" panose="020B0907030504020204" pitchFamily="34" charset="0"/>
              </a:rPr>
              <a:t>Keycloak</a:t>
            </a:r>
            <a:r>
              <a:rPr lang="en-US" sz="3556" dirty="0">
                <a:latin typeface="Eras Bold ITC" panose="020B0907030504020204" pitchFamily="34" charset="0"/>
              </a:rPr>
              <a:t> Admin Console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1EC62B5-4367-FCDC-61F6-577492DBB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15" y="1421569"/>
            <a:ext cx="10024533" cy="43215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31F98F2-0426-B45D-EDD6-31265040A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498" y="5115672"/>
            <a:ext cx="7450667" cy="32679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09D147D-9F8E-8DA0-2C6D-1C045820AEFD}"/>
              </a:ext>
            </a:extLst>
          </p:cNvPr>
          <p:cNvSpPr txBox="1"/>
          <p:nvPr/>
        </p:nvSpPr>
        <p:spPr>
          <a:xfrm>
            <a:off x="3748531" y="5768437"/>
            <a:ext cx="812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Eras Bold ITC" panose="020B0907030504020204" pitchFamily="34" charset="0"/>
              </a:rPr>
              <a:t>Master + </a:t>
            </a:r>
            <a:r>
              <a:rPr lang="en-US" sz="1600" b="1" dirty="0" err="1">
                <a:latin typeface="Eras Bold ITC" panose="020B0907030504020204" pitchFamily="34" charset="0"/>
              </a:rPr>
              <a:t>ZeroTrust</a:t>
            </a:r>
            <a:r>
              <a:rPr lang="en-US" sz="1600" b="1" dirty="0">
                <a:latin typeface="Eras Bold ITC" panose="020B0907030504020204" pitchFamily="34" charset="0"/>
              </a:rPr>
              <a:t> Realm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CC7F40-B34C-9DAC-044A-9C60FCB3BBB1}"/>
              </a:ext>
            </a:extLst>
          </p:cNvPr>
          <p:cNvSpPr txBox="1"/>
          <p:nvPr/>
        </p:nvSpPr>
        <p:spPr>
          <a:xfrm>
            <a:off x="11469426" y="8427510"/>
            <a:ext cx="9821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Eras Bold ITC" panose="020B0907030504020204" pitchFamily="34" charset="0"/>
              </a:rPr>
              <a:t>Admin &amp; Test Users Configured</a:t>
            </a:r>
          </a:p>
        </p:txBody>
      </p:sp>
    </p:spTree>
    <p:extLst>
      <p:ext uri="{BB962C8B-B14F-4D97-AF65-F5344CB8AC3E}">
        <p14:creationId xmlns:p14="http://schemas.microsoft.com/office/powerpoint/2010/main" val="1972441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BD9D0-4768-212E-6B80-C23899DD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DE56694-A93C-C8AD-D713-DE776C94ABBB}"/>
              </a:ext>
            </a:extLst>
          </p:cNvPr>
          <p:cNvSpPr txBox="1"/>
          <p:nvPr/>
        </p:nvSpPr>
        <p:spPr>
          <a:xfrm>
            <a:off x="-167762" y="127236"/>
            <a:ext cx="8483859" cy="69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11">
                <a:latin typeface="Eras Bold ITC" panose="020B0907030504020204" pitchFamily="34" charset="0"/>
              </a:rPr>
              <a:t>M2–Teleport Zero Trust Access</a:t>
            </a:r>
            <a:endParaRPr lang="en-US" sz="3911" dirty="0">
              <a:latin typeface="Eras Bold ITC" panose="020B0907030504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3A1293-EA2A-0978-5881-F58A16CE287F}"/>
              </a:ext>
            </a:extLst>
          </p:cNvPr>
          <p:cNvGrpSpPr/>
          <p:nvPr/>
        </p:nvGrpSpPr>
        <p:grpSpPr>
          <a:xfrm>
            <a:off x="5197716" y="976575"/>
            <a:ext cx="12268788" cy="3971773"/>
            <a:chOff x="5197716" y="976575"/>
            <a:chExt cx="12268788" cy="397177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2F4A303-6594-0A71-0DF5-F004B108F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7716" y="976575"/>
              <a:ext cx="10849034" cy="39717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E03540-B65C-2775-D6A8-96FC69F34D1E}"/>
                </a:ext>
              </a:extLst>
            </p:cNvPr>
            <p:cNvSpPr txBox="1"/>
            <p:nvPr/>
          </p:nvSpPr>
          <p:spPr>
            <a:xfrm>
              <a:off x="9338504" y="3283093"/>
              <a:ext cx="8128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Session Recording &amp; Audit</a:t>
              </a:r>
              <a:br>
                <a:rPr lang="en-US" sz="1600" b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sz="1600" b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SSH, Kubernetes &amp; Database Access Proxy</a:t>
              </a:r>
            </a:p>
            <a:p>
              <a:pPr algn="ctr"/>
              <a:endParaRPr lang="en-US" sz="1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2D4599-101F-DA16-F1A2-684AEA2C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60" y="5103523"/>
            <a:ext cx="11853333" cy="356894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E7EE05D-5256-E082-5D92-8432A249C00C}"/>
              </a:ext>
            </a:extLst>
          </p:cNvPr>
          <p:cNvSpPr txBox="1"/>
          <p:nvPr/>
        </p:nvSpPr>
        <p:spPr>
          <a:xfrm>
            <a:off x="7549979" y="5455013"/>
            <a:ext cx="812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Just-in-Time Access</a:t>
            </a:r>
          </a:p>
        </p:txBody>
      </p:sp>
    </p:spTree>
    <p:extLst>
      <p:ext uri="{BB962C8B-B14F-4D97-AF65-F5344CB8AC3E}">
        <p14:creationId xmlns:p14="http://schemas.microsoft.com/office/powerpoint/2010/main" val="2630353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BE87-91E8-E2EA-1FF1-60778855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2">
            <a:extLst>
              <a:ext uri="{FF2B5EF4-FFF2-40B4-BE49-F238E27FC236}">
                <a16:creationId xmlns:a16="http://schemas.microsoft.com/office/drawing/2014/main" id="{44A459A2-5D9F-8688-3BCF-06FD809E754B}"/>
              </a:ext>
            </a:extLst>
          </p:cNvPr>
          <p:cNvSpPr txBox="1"/>
          <p:nvPr/>
        </p:nvSpPr>
        <p:spPr>
          <a:xfrm>
            <a:off x="770792" y="391723"/>
            <a:ext cx="5727489" cy="601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911" dirty="0" err="1">
                <a:latin typeface="Eras Bold ITC" panose="020B0907030504020204" pitchFamily="34" charset="0"/>
              </a:rPr>
              <a:t>BloodHound</a:t>
            </a:r>
            <a:endParaRPr lang="en-US" sz="3911" dirty="0">
              <a:latin typeface="Eras Bold ITC" panose="020B0907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EF9FB-95B4-89A1-A81B-8E4BAAD5B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607" y="1388534"/>
            <a:ext cx="11975083" cy="5903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0E131-DE06-A13E-B4CD-FD7493B8A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5867"/>
            <a:ext cx="3928533" cy="66927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E7F53C-3B36-AE8D-E761-AC271FA25AAB}"/>
              </a:ext>
            </a:extLst>
          </p:cNvPr>
          <p:cNvSpPr txBox="1"/>
          <p:nvPr/>
        </p:nvSpPr>
        <p:spPr>
          <a:xfrm>
            <a:off x="4876800" y="7292006"/>
            <a:ext cx="11092139" cy="8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89" dirty="0">
                <a:latin typeface="Aharoni" panose="02010803020104030203" pitchFamily="2" charset="-79"/>
                <a:cs typeface="Aharoni" panose="02010803020104030203" pitchFamily="2" charset="-79"/>
              </a:rPr>
              <a:t>when our data is highly interconnected and the relationships between data points are as important as the data itself.</a:t>
            </a:r>
            <a:endParaRPr lang="en-US" sz="2489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82388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4D66-5371-56AF-4CE6-79F41A1F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5EDE24-79DE-2E27-26DE-1B52DA59FEB7}"/>
              </a:ext>
            </a:extLst>
          </p:cNvPr>
          <p:cNvSpPr txBox="1"/>
          <p:nvPr/>
        </p:nvSpPr>
        <p:spPr>
          <a:xfrm>
            <a:off x="338667" y="508000"/>
            <a:ext cx="812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Consul Service Mesh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3CD546-108E-537A-6774-6630CCA1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9" y="1524001"/>
            <a:ext cx="9139215" cy="4094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EE5CCB-F8FF-97FF-32D3-07AF3DCCA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0" y="304801"/>
            <a:ext cx="8427962" cy="38304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E7A08F-93F7-7754-C2B0-8E5666466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67" y="4654103"/>
            <a:ext cx="9347200" cy="41850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B0EF8F7-1F54-7AC9-1853-8C307527B04C}"/>
              </a:ext>
            </a:extLst>
          </p:cNvPr>
          <p:cNvSpPr txBox="1"/>
          <p:nvPr/>
        </p:nvSpPr>
        <p:spPr>
          <a:xfrm>
            <a:off x="2827867" y="4978900"/>
            <a:ext cx="812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Eras Bold ITC" panose="020B0907030504020204" pitchFamily="34" charset="0"/>
              </a:rPr>
              <a:t>Centralized SSO &amp; Federation</a:t>
            </a:r>
          </a:p>
        </p:txBody>
      </p:sp>
    </p:spTree>
    <p:extLst>
      <p:ext uri="{BB962C8B-B14F-4D97-AF65-F5344CB8AC3E}">
        <p14:creationId xmlns:p14="http://schemas.microsoft.com/office/powerpoint/2010/main" val="3432234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72E9-41B7-BE07-E24B-272CE6B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832E6E-62AA-32AC-451D-1EB51CBCD02D}"/>
              </a:ext>
            </a:extLst>
          </p:cNvPr>
          <p:cNvSpPr txBox="1"/>
          <p:nvPr/>
        </p:nvSpPr>
        <p:spPr>
          <a:xfrm>
            <a:off x="677333" y="711200"/>
            <a:ext cx="8128000" cy="69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911" dirty="0">
                <a:latin typeface="Eras Bold ITC" panose="020B0907030504020204" pitchFamily="34" charset="0"/>
              </a:rPr>
              <a:t>Hardening &amp; Verification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0785E-0F98-9500-EF6C-0678377CD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267" y="1674680"/>
            <a:ext cx="8014236" cy="629589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C489C2-3008-7A3A-3846-715BF01FFE99}"/>
              </a:ext>
            </a:extLst>
          </p:cNvPr>
          <p:cNvSpPr txBox="1"/>
          <p:nvPr/>
        </p:nvSpPr>
        <p:spPr>
          <a:xfrm>
            <a:off x="812800" y="2269067"/>
            <a:ext cx="8128000" cy="1672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5" indent="-406405">
              <a:buFont typeface="Arial" panose="020B0604020202020204" pitchFamily="34" charset="0"/>
              <a:buChar char="•"/>
            </a:pPr>
            <a:r>
              <a:rPr lang="en-US" sz="2500" dirty="0" err="1">
                <a:latin typeface="Aharoni" panose="02010803020104030203" pitchFamily="2" charset="-79"/>
                <a:cs typeface="Aharoni" panose="02010803020104030203" pitchFamily="2" charset="-79"/>
              </a:rPr>
              <a:t>Passwordless</a:t>
            </a:r>
            <a:r>
              <a:rPr lang="en-US" sz="2500" dirty="0">
                <a:latin typeface="Aharoni" panose="02010803020104030203" pitchFamily="2" charset="-79"/>
                <a:cs typeface="Aharoni" panose="02010803020104030203" pitchFamily="2" charset="-79"/>
              </a:rPr>
              <a:t> SSH between all VMs </a:t>
            </a:r>
          </a:p>
          <a:p>
            <a:pPr marL="406405" indent="-406405">
              <a:buFont typeface="Arial" panose="020B0604020202020204" pitchFamily="34" charset="0"/>
              <a:buChar char="•"/>
            </a:pPr>
            <a:r>
              <a:rPr lang="en-US" sz="2500" dirty="0">
                <a:latin typeface="Aharoni" panose="02010803020104030203" pitchFamily="2" charset="-79"/>
                <a:cs typeface="Aharoni" panose="02010803020104030203" pitchFamily="2" charset="-79"/>
              </a:rPr>
              <a:t>All services reboot persistent</a:t>
            </a:r>
          </a:p>
          <a:p>
            <a:pPr marL="406405" indent="-406405">
              <a:buFont typeface="Arial" panose="020B0604020202020204" pitchFamily="34" charset="0"/>
              <a:buChar char="•"/>
            </a:pPr>
            <a:r>
              <a:rPr lang="en-US" sz="2500" dirty="0">
                <a:latin typeface="Aharoni" panose="02010803020104030203" pitchFamily="2" charset="-79"/>
                <a:cs typeface="Aharoni" panose="02010803020104030203" pitchFamily="2" charset="-79"/>
              </a:rPr>
              <a:t> Full lab connectivity verified</a:t>
            </a:r>
          </a:p>
          <a:p>
            <a:pPr marL="406405" indent="-406405">
              <a:buFont typeface="Arial" panose="020B0604020202020204" pitchFamily="34" charset="0"/>
              <a:buChar char="•"/>
            </a:pPr>
            <a:r>
              <a:rPr lang="en-US" sz="2500" dirty="0">
                <a:latin typeface="Aharoni" panose="02010803020104030203" pitchFamily="2" charset="-79"/>
                <a:cs typeface="Aharoni" panose="02010803020104030203" pitchFamily="2" charset="-79"/>
              </a:rPr>
              <a:t>Auto-unseal Vault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125069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DD762-BF17-2F5F-81FE-A58DD004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49BEC1-911D-FC00-9ED0-D71E720A2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16526"/>
              </p:ext>
            </p:extLst>
          </p:nvPr>
        </p:nvGraphicFramePr>
        <p:xfrm>
          <a:off x="926757" y="2248930"/>
          <a:ext cx="14424453" cy="591888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808151">
                  <a:extLst>
                    <a:ext uri="{9D8B030D-6E8A-4147-A177-3AD203B41FA5}">
                      <a16:colId xmlns:a16="http://schemas.microsoft.com/office/drawing/2014/main" val="4004192292"/>
                    </a:ext>
                  </a:extLst>
                </a:gridCol>
                <a:gridCol w="4808151">
                  <a:extLst>
                    <a:ext uri="{9D8B030D-6E8A-4147-A177-3AD203B41FA5}">
                      <a16:colId xmlns:a16="http://schemas.microsoft.com/office/drawing/2014/main" val="1550977808"/>
                    </a:ext>
                  </a:extLst>
                </a:gridCol>
                <a:gridCol w="4808151">
                  <a:extLst>
                    <a:ext uri="{9D8B030D-6E8A-4147-A177-3AD203B41FA5}">
                      <a16:colId xmlns:a16="http://schemas.microsoft.com/office/drawing/2014/main" val="559837288"/>
                    </a:ext>
                  </a:extLst>
                </a:gridCol>
              </a:tblGrid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latin typeface="Eras Bold ITC" panose="020B0907030504020204" pitchFamily="34" charset="0"/>
                        </a:rPr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latin typeface="Eras Bold ITC" panose="020B0907030504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latin typeface="Eras Bold ITC" panose="020B0907030504020204" pitchFamily="34" charset="0"/>
                        </a:rPr>
                        <a:t>Protocol/Method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928631"/>
                  </a:ext>
                </a:extLst>
              </a:tr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FortiGate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802.1X NAC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FreeRADIUS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997631"/>
                  </a:ext>
                </a:extLst>
              </a:tr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FortiGate 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TACACS+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297568"/>
                  </a:ext>
                </a:extLst>
              </a:tr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Network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Device Auth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EAP-TLS (Step-CA)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171127"/>
                  </a:ext>
                </a:extLst>
              </a:tr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Keycloak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SSO for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OIDC/SAML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606425"/>
                  </a:ext>
                </a:extLst>
              </a:tr>
              <a:tr h="98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Vault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Dynamic Secrets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87108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0031B2-F756-B9A7-EE7D-76DC0B157B5C}"/>
              </a:ext>
            </a:extLst>
          </p:cNvPr>
          <p:cNvSpPr txBox="1"/>
          <p:nvPr/>
        </p:nvSpPr>
        <p:spPr>
          <a:xfrm>
            <a:off x="2508422" y="961047"/>
            <a:ext cx="11664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Eras Bold ITC" panose="020B0907030504020204" pitchFamily="34" charset="0"/>
              </a:rPr>
              <a:t>Integrations with Machine 1 (Core Network)</a:t>
            </a:r>
            <a:endParaRPr lang="en-US" sz="36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55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40CE-E44A-CB1F-0FDD-551CD692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A9A696-9ADF-BE8A-80BF-58E9AD03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467" y="-112594"/>
            <a:ext cx="16391467" cy="92923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49579A-0B75-1C63-13FC-2EE64CD9DFB9}"/>
              </a:ext>
            </a:extLst>
          </p:cNvPr>
          <p:cNvSpPr txBox="1"/>
          <p:nvPr/>
        </p:nvSpPr>
        <p:spPr>
          <a:xfrm>
            <a:off x="7450667" y="4978400"/>
            <a:ext cx="6434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The Brain of the Lab Log Collection, Threat Intelligence, Analysis &amp; Automated Response 3 Dedicated VMs: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SIEM-M3 | MONITOR-M3 | CTI-M3</a:t>
            </a:r>
          </a:p>
        </p:txBody>
      </p:sp>
    </p:spTree>
    <p:extLst>
      <p:ext uri="{BB962C8B-B14F-4D97-AF65-F5344CB8AC3E}">
        <p14:creationId xmlns:p14="http://schemas.microsoft.com/office/powerpoint/2010/main" val="29969805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u-video-3303973130570674">
            <a:hlinkClick r:id="" action="ppaction://media"/>
            <a:extLst>
              <a:ext uri="{FF2B5EF4-FFF2-40B4-BE49-F238E27FC236}">
                <a16:creationId xmlns:a16="http://schemas.microsoft.com/office/drawing/2014/main" id="{BD06CD99-6DBF-F1AF-9924-74377C8448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93881"/>
            <a:ext cx="16256000" cy="934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uturistic SIEM architecture flowchart">
            <a:extLst>
              <a:ext uri="{FF2B5EF4-FFF2-40B4-BE49-F238E27FC236}">
                <a16:creationId xmlns:a16="http://schemas.microsoft.com/office/drawing/2014/main" id="{07AF97EB-2E6F-8552-D38D-7A310F80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27C49D-0D24-8D5E-B24C-B8A1F3815883}"/>
              </a:ext>
            </a:extLst>
          </p:cNvPr>
          <p:cNvSpPr/>
          <p:nvPr/>
        </p:nvSpPr>
        <p:spPr>
          <a:xfrm>
            <a:off x="0" y="0"/>
            <a:ext cx="2011680" cy="731520"/>
          </a:xfrm>
          <a:prstGeom prst="rect">
            <a:avLst/>
          </a:prstGeom>
          <a:solidFill>
            <a:srgbClr val="000002"/>
          </a:solidFill>
          <a:ln>
            <a:solidFill>
              <a:srgbClr val="00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0725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1520E-587F-1CCA-4E7B-0C28D29F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1156346"/>
            <a:ext cx="10096500" cy="44741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BA4163-A8D5-9D70-0737-E96702462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011" y="5465720"/>
            <a:ext cx="6998989" cy="35835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C2D2F9-C6A0-A20E-6720-639375989CF1}"/>
              </a:ext>
            </a:extLst>
          </p:cNvPr>
          <p:cNvSpPr txBox="1"/>
          <p:nvPr/>
        </p:nvSpPr>
        <p:spPr>
          <a:xfrm>
            <a:off x="4518025" y="733105"/>
            <a:ext cx="816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Integrated Log Collection from Network, Security Tools &amp; Honeypots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25EEA-1308-A5F5-FD31-F93FC5407E1E}"/>
              </a:ext>
            </a:extLst>
          </p:cNvPr>
          <p:cNvSpPr txBox="1"/>
          <p:nvPr/>
        </p:nvSpPr>
        <p:spPr>
          <a:xfrm>
            <a:off x="3324224" y="140955"/>
            <a:ext cx="107854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effectLst/>
                <a:latin typeface="Eras Bold ITC" panose="020B0907030504020204" pitchFamily="34" charset="0"/>
              </a:rPr>
              <a:t>Wazuh</a:t>
            </a:r>
            <a:r>
              <a:rPr lang="en-US" sz="3200" dirty="0">
                <a:effectLst/>
                <a:latin typeface="Eras Bold ITC" panose="020B0907030504020204" pitchFamily="34" charset="0"/>
              </a:rPr>
              <a:t> SIEM – Custom Rules &amp; Agent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6347C6-693B-B93E-5570-6FEF0CB10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8" y="5613357"/>
            <a:ext cx="8166100" cy="32882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E70D7-9BDD-37E2-FED0-55D49BED5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834" y="1273010"/>
            <a:ext cx="2930330" cy="379306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068744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3D2A6-C1ED-8026-46F6-BCB33D46E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74" y="1796812"/>
            <a:ext cx="7694452" cy="588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8A0BDA-FB69-1A54-9920-33E841631E37}"/>
              </a:ext>
            </a:extLst>
          </p:cNvPr>
          <p:cNvSpPr txBox="1"/>
          <p:nvPr/>
        </p:nvSpPr>
        <p:spPr>
          <a:xfrm>
            <a:off x="4081780" y="159484"/>
            <a:ext cx="933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Eras Bold ITC" panose="020B0907030504020204" pitchFamily="34" charset="0"/>
              </a:rPr>
              <a:t>Kafka Topics &amp; Logstash Pipelines</a:t>
            </a:r>
            <a:endParaRPr lang="en-US" sz="3600" dirty="0">
              <a:effectLst/>
              <a:latin typeface="Eras Bold ITC" panose="020B0907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7A586-F9B0-46FE-68DC-8CC03242A9A4}"/>
              </a:ext>
            </a:extLst>
          </p:cNvPr>
          <p:cNvSpPr txBox="1"/>
          <p:nvPr/>
        </p:nvSpPr>
        <p:spPr>
          <a:xfrm>
            <a:off x="4686300" y="862724"/>
            <a:ext cx="81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Centralized Log Streaming, Parsing &amp; Enrichment for Zero Trust SIEM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C768F-54B2-14F5-9ACD-07186278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752" y="3169059"/>
            <a:ext cx="8419536" cy="53974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08633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D0587C-023B-A3DF-B75E-11E3C130152D}"/>
              </a:ext>
            </a:extLst>
          </p:cNvPr>
          <p:cNvSpPr txBox="1"/>
          <p:nvPr/>
        </p:nvSpPr>
        <p:spPr>
          <a:xfrm>
            <a:off x="4605449" y="816310"/>
            <a:ext cx="824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Automated Feed Ingestion, Event Management &amp; IOC Enrichment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39D8C-E98D-92F3-FF60-24ABEB683A4D}"/>
              </a:ext>
            </a:extLst>
          </p:cNvPr>
          <p:cNvSpPr txBox="1"/>
          <p:nvPr/>
        </p:nvSpPr>
        <p:spPr>
          <a:xfrm>
            <a:off x="1663290" y="60348"/>
            <a:ext cx="13573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Eras Bold ITC" panose="020B0907030504020204" pitchFamily="34" charset="0"/>
              </a:rPr>
              <a:t>MISP – Threat Intelligence Feeds &amp; Events</a:t>
            </a:r>
            <a:endParaRPr lang="en-US" sz="44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D15630-5818-E8E2-2669-2113FE9EC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54" y="5574560"/>
            <a:ext cx="5734546" cy="35090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C6E356-D477-FEB0-A09E-87059C66D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78" y="1185642"/>
            <a:ext cx="8966318" cy="41273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300A02-EF6D-B564-4DD7-B487162BA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205" y="3706359"/>
            <a:ext cx="8966318" cy="39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71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122C-98EF-E968-28B1-2586F9D2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A8375-F87D-846B-A808-D2D005AFF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6" y="-121920"/>
            <a:ext cx="16259695" cy="93801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5FF53D-4B70-715B-843C-399814901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906" y="194308"/>
            <a:ext cx="5198533" cy="30133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EF5CF-A95B-723D-AFE3-40ECE99F9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4" y="6038992"/>
            <a:ext cx="5160150" cy="25800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D52860-1CB8-5F03-9EAC-9744B1CE8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62" y="1459135"/>
            <a:ext cx="2916767" cy="29167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CC29F9-6ACC-F5B9-AA22-73CA4CC326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952" y="712988"/>
            <a:ext cx="3999648" cy="19998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7BD02B-1C9B-9551-06B2-3BA34761A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044" y="4984228"/>
            <a:ext cx="2930330" cy="3793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E25303-A77D-3831-E0BF-D5FE4203ED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814" y="3351924"/>
            <a:ext cx="5829657" cy="32646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777818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E275-A9CF-E0E0-2B07-3AAF5A7B6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063DF-3EE6-B101-8A43-9DB94988AD2D}"/>
              </a:ext>
            </a:extLst>
          </p:cNvPr>
          <p:cNvSpPr txBox="1"/>
          <p:nvPr/>
        </p:nvSpPr>
        <p:spPr>
          <a:xfrm>
            <a:off x="4483100" y="92558"/>
            <a:ext cx="8805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latin typeface="Eras Bold ITC" panose="020B0907030504020204" pitchFamily="34" charset="0"/>
              </a:rPr>
              <a:t>IntelOwl</a:t>
            </a:r>
            <a:r>
              <a:rPr lang="en-US" sz="3200" dirty="0">
                <a:latin typeface="Eras Bold ITC" panose="020B0907030504020204" pitchFamily="34" charset="0"/>
              </a:rPr>
              <a:t> Dashboard &amp; Connectors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A8051F-331F-F2AF-BE4D-D3C0F3B11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13" y="1058333"/>
            <a:ext cx="8377964" cy="47636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FC5847-DB6E-F764-ACA4-99C71BBC2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887" y="3961983"/>
            <a:ext cx="8128000" cy="4660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0046B-793E-EFE0-6249-38AE02FE4059}"/>
              </a:ext>
            </a:extLst>
          </p:cNvPr>
          <p:cNvSpPr txBox="1"/>
          <p:nvPr/>
        </p:nvSpPr>
        <p:spPr>
          <a:xfrm>
            <a:off x="9426575" y="8682110"/>
            <a:ext cx="876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MISP (auto-create events) + </a:t>
            </a:r>
            <a:r>
              <a:rPr lang="en-US" dirty="0" err="1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OpenCTI</a:t>
            </a: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(observables sync)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5E5C5-AB71-7276-A879-8ABFC620C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539" y="847245"/>
            <a:ext cx="5099532" cy="2855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847810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73B-BEDA-8EA1-412E-0929BCDA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86D839-A289-1AAE-F74F-5ECB272ECB47}"/>
              </a:ext>
            </a:extLst>
          </p:cNvPr>
          <p:cNvSpPr txBox="1"/>
          <p:nvPr/>
        </p:nvSpPr>
        <p:spPr>
          <a:xfrm>
            <a:off x="5012267" y="28614"/>
            <a:ext cx="812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Eras Bold ITC" panose="020B0907030504020204" pitchFamily="34" charset="0"/>
              </a:rPr>
              <a:t>IntelOwl</a:t>
            </a:r>
            <a:r>
              <a:rPr lang="en-US" sz="2800" dirty="0">
                <a:latin typeface="Eras Bold ITC" panose="020B0907030504020204" pitchFamily="34" charset="0"/>
              </a:rPr>
              <a:t> – Live Scan &amp; Analysis</a:t>
            </a:r>
            <a:endParaRPr lang="en-US" sz="28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231B2-94A3-7741-8781-888687746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36" y="1173317"/>
            <a:ext cx="9632061" cy="41407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A24FE-C230-146E-0CD8-A393DC28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1" y="5599234"/>
            <a:ext cx="11518900" cy="35447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DD8205-6DDC-F846-E4BB-DA64BC4E96CB}"/>
              </a:ext>
            </a:extLst>
          </p:cNvPr>
          <p:cNvSpPr txBox="1"/>
          <p:nvPr/>
        </p:nvSpPr>
        <p:spPr>
          <a:xfrm>
            <a:off x="4254500" y="518851"/>
            <a:ext cx="81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Real-time Observable Enrichment using Analyzers &amp; Connectors</a:t>
            </a:r>
          </a:p>
        </p:txBody>
      </p:sp>
      <p:pic>
        <p:nvPicPr>
          <p:cNvPr id="7" name="Graphic 6" descr="Eye Scan outline">
            <a:extLst>
              <a:ext uri="{FF2B5EF4-FFF2-40B4-BE49-F238E27FC236}">
                <a16:creationId xmlns:a16="http://schemas.microsoft.com/office/drawing/2014/main" id="{F993D969-9BF7-89F0-6CEB-A4AF98FC8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4800" y="1042071"/>
            <a:ext cx="3301999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38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97729-7401-8FF0-5C10-053EBE41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49" y="1345957"/>
            <a:ext cx="13376228" cy="7375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B69813-9BB6-D96F-DAAF-F47C4A6AB50E}"/>
              </a:ext>
            </a:extLst>
          </p:cNvPr>
          <p:cNvSpPr txBox="1"/>
          <p:nvPr/>
        </p:nvSpPr>
        <p:spPr>
          <a:xfrm>
            <a:off x="11280395" y="1879526"/>
            <a:ext cx="4728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Automated Open Source Intelligence Gathering &amp; Target Analysis</a:t>
            </a:r>
          </a:p>
        </p:txBody>
      </p:sp>
      <p:pic>
        <p:nvPicPr>
          <p:cNvPr id="5" name="Picture 4" descr="‪🕷 SpiderFoot: The Ultimate OSINT Tool for Recon &amp; Red Teaming | by Vivek  Bhatt | Medium‬‏">
            <a:extLst>
              <a:ext uri="{FF2B5EF4-FFF2-40B4-BE49-F238E27FC236}">
                <a16:creationId xmlns:a16="http://schemas.microsoft.com/office/drawing/2014/main" id="{AB47C097-5D74-326B-78C5-E07A810F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756" y="592780"/>
            <a:ext cx="4276725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6025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B481E1-27B4-0109-D53B-0A0BD824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8" y="1167037"/>
            <a:ext cx="9636281" cy="5770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2F776-07BC-6B36-1046-69C13E39D704}"/>
              </a:ext>
            </a:extLst>
          </p:cNvPr>
          <p:cNvSpPr txBox="1"/>
          <p:nvPr/>
        </p:nvSpPr>
        <p:spPr>
          <a:xfrm>
            <a:off x="2835361" y="59042"/>
            <a:ext cx="11535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effectLst/>
                <a:latin typeface="Eras Bold ITC" panose="020B0907030504020204" pitchFamily="34" charset="0"/>
              </a:rPr>
              <a:t>TheHive</a:t>
            </a:r>
            <a:r>
              <a:rPr lang="en-US" sz="3200" dirty="0">
                <a:effectLst/>
                <a:latin typeface="Eras Bold ITC" panose="020B0907030504020204" pitchFamily="34" charset="0"/>
              </a:rPr>
              <a:t> – Case Management &amp; MISP Integration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7A86A-9EC3-5985-B2C0-9FA2EED2D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287" y="4296164"/>
            <a:ext cx="8852805" cy="47149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09BBD3-6310-78B4-8CC9-D2C75318535C}"/>
              </a:ext>
            </a:extLst>
          </p:cNvPr>
          <p:cNvSpPr txBox="1"/>
          <p:nvPr/>
        </p:nvSpPr>
        <p:spPr>
          <a:xfrm>
            <a:off x="3671159" y="643817"/>
            <a:ext cx="9168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Automated Incident Response with Enriched Observables from MISP Feeds</a:t>
            </a:r>
          </a:p>
        </p:txBody>
      </p:sp>
    </p:spTree>
    <p:extLst>
      <p:ext uri="{BB962C8B-B14F-4D97-AF65-F5344CB8AC3E}">
        <p14:creationId xmlns:p14="http://schemas.microsoft.com/office/powerpoint/2010/main" val="662557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C55C-14E7-1588-5795-59D2435B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AE043E-D6DF-F17A-1CEF-0807E331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4" y="3579794"/>
            <a:ext cx="8773297" cy="52465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8F0E2E-78BB-497D-D261-28431BDF402D}"/>
              </a:ext>
            </a:extLst>
          </p:cNvPr>
          <p:cNvSpPr txBox="1"/>
          <p:nvPr/>
        </p:nvSpPr>
        <p:spPr>
          <a:xfrm>
            <a:off x="3422822" y="146046"/>
            <a:ext cx="81307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effectLst/>
                <a:latin typeface="Eras Bold ITC" panose="020B0907030504020204" pitchFamily="34" charset="0"/>
              </a:rPr>
              <a:t>TheHive</a:t>
            </a:r>
            <a:r>
              <a:rPr lang="en-US" sz="3200" dirty="0">
                <a:effectLst/>
                <a:latin typeface="Eras Bold ITC" panose="020B0907030504020204" pitchFamily="34" charset="0"/>
              </a:rPr>
              <a:t> – Alerts &amp; Case Management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485E8B-92C1-7569-F076-588FE2A05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698" y="1027190"/>
            <a:ext cx="9732438" cy="4879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219D26-59AA-AC30-56E9-430549BDD1FB}"/>
              </a:ext>
            </a:extLst>
          </p:cNvPr>
          <p:cNvSpPr txBox="1"/>
          <p:nvPr/>
        </p:nvSpPr>
        <p:spPr>
          <a:xfrm>
            <a:off x="4275438" y="657858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Automated Case Creation &amp; Enrichment via MISP Integration</a:t>
            </a:r>
          </a:p>
        </p:txBody>
      </p:sp>
    </p:spTree>
    <p:extLst>
      <p:ext uri="{BB962C8B-B14F-4D97-AF65-F5344CB8AC3E}">
        <p14:creationId xmlns:p14="http://schemas.microsoft.com/office/powerpoint/2010/main" val="1387020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6E08-14D5-3633-D86F-F5F1E78F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667C3ED-8C34-67D9-EC76-735462C57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92" y="1427608"/>
            <a:ext cx="7985848" cy="2864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BCAFC2-CCC3-932C-0BB8-03B5E7BAC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239" y="2723210"/>
            <a:ext cx="9184223" cy="2864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D77DD4-9982-9EBF-6C74-34F3E7462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92" y="4950057"/>
            <a:ext cx="8618026" cy="26326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C8E1F1-5B72-1F5A-5E11-B13749707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239" y="6183875"/>
            <a:ext cx="8983417" cy="296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1549E9-0A5E-8BD5-D742-D3F9B2A621B3}"/>
              </a:ext>
            </a:extLst>
          </p:cNvPr>
          <p:cNvSpPr txBox="1"/>
          <p:nvPr/>
        </p:nvSpPr>
        <p:spPr>
          <a:xfrm>
            <a:off x="5263978" y="362478"/>
            <a:ext cx="813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effectLst/>
                <a:latin typeface="Eras Bold ITC" panose="020B0907030504020204" pitchFamily="34" charset="0"/>
              </a:rPr>
              <a:t>Cortex – Analyzer Engine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56F84-E267-0278-4371-2915D6CD5802}"/>
              </a:ext>
            </a:extLst>
          </p:cNvPr>
          <p:cNvSpPr txBox="1"/>
          <p:nvPr/>
        </p:nvSpPr>
        <p:spPr>
          <a:xfrm>
            <a:off x="4324865" y="821836"/>
            <a:ext cx="8130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Organization, User Management &amp; </a:t>
            </a:r>
            <a:r>
              <a:rPr lang="en-US" sz="2000" dirty="0" err="1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TheHive</a:t>
            </a:r>
            <a:r>
              <a:rPr lang="en-US" sz="200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23052678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7E19361-607B-1CA2-4122-0A84049A3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81" y="1246999"/>
            <a:ext cx="12015117" cy="58790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D733571-1A52-753C-22CE-AE0D37B058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7" y="2776568"/>
            <a:ext cx="4490487" cy="22452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0E80637-C2B6-DD18-729D-D74E50A8A868}"/>
              </a:ext>
            </a:extLst>
          </p:cNvPr>
          <p:cNvSpPr txBox="1"/>
          <p:nvPr/>
        </p:nvSpPr>
        <p:spPr>
          <a:xfrm>
            <a:off x="11338518" y="5114987"/>
            <a:ext cx="4305136" cy="92333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Self-Hosted SOAR for Automated Incident Response &amp; Workflow Orchestration</a:t>
            </a:r>
          </a:p>
        </p:txBody>
      </p:sp>
    </p:spTree>
    <p:extLst>
      <p:ext uri="{BB962C8B-B14F-4D97-AF65-F5344CB8AC3E}">
        <p14:creationId xmlns:p14="http://schemas.microsoft.com/office/powerpoint/2010/main" val="2428997069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1A6B-EFC6-531D-DBEE-880FFD3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32">
            <a:extLst>
              <a:ext uri="{FF2B5EF4-FFF2-40B4-BE49-F238E27FC236}">
                <a16:creationId xmlns:a16="http://schemas.microsoft.com/office/drawing/2014/main" id="{291B06A8-DBE4-7A3E-2C77-4CBF1E768A73}"/>
              </a:ext>
            </a:extLst>
          </p:cNvPr>
          <p:cNvSpPr txBox="1"/>
          <p:nvPr/>
        </p:nvSpPr>
        <p:spPr>
          <a:xfrm>
            <a:off x="10204570" y="6435422"/>
            <a:ext cx="508124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Eras Bold ITC" panose="020B0907030504020204" pitchFamily="34" charset="0"/>
              </a:rPr>
              <a:t>Automated Response — Shuffle SOAR</a:t>
            </a:r>
            <a:endParaRPr lang="en-US" sz="3600" dirty="0">
              <a:effectLst/>
              <a:latin typeface="Eras Bold ITC" panose="020B0907030504020204" pitchFamily="34" charset="0"/>
            </a:endParaRPr>
          </a:p>
        </p:txBody>
      </p:sp>
      <p:sp>
        <p:nvSpPr>
          <p:cNvPr id="74" name="TextBox 33">
            <a:extLst>
              <a:ext uri="{FF2B5EF4-FFF2-40B4-BE49-F238E27FC236}">
                <a16:creationId xmlns:a16="http://schemas.microsoft.com/office/drawing/2014/main" id="{2FAC83FC-F5BD-ADC3-679A-E6726C371C1E}"/>
              </a:ext>
            </a:extLst>
          </p:cNvPr>
          <p:cNvSpPr txBox="1"/>
          <p:nvPr/>
        </p:nvSpPr>
        <p:spPr>
          <a:xfrm>
            <a:off x="9493382" y="7821900"/>
            <a:ext cx="676261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Real-time Threat Blocking from Alert to Enforcement in Under 2 Seconds</a:t>
            </a:r>
            <a:endParaRPr lang="en-US" sz="24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B1C5F86-83CA-0D4C-FBBF-00230772A3C3}"/>
              </a:ext>
            </a:extLst>
          </p:cNvPr>
          <p:cNvGrpSpPr/>
          <p:nvPr/>
        </p:nvGrpSpPr>
        <p:grpSpPr>
          <a:xfrm>
            <a:off x="-191308" y="-2699895"/>
            <a:ext cx="9228121" cy="10199814"/>
            <a:chOff x="2958800" y="-1907072"/>
            <a:chExt cx="9228121" cy="10199814"/>
          </a:xfrm>
        </p:grpSpPr>
        <p:grpSp>
          <p:nvGrpSpPr>
            <p:cNvPr id="94" name="Group 5">
              <a:extLst>
                <a:ext uri="{FF2B5EF4-FFF2-40B4-BE49-F238E27FC236}">
                  <a16:creationId xmlns:a16="http://schemas.microsoft.com/office/drawing/2014/main" id="{D3C4FF07-BB44-88F0-588D-63734049E4C0}"/>
                </a:ext>
              </a:extLst>
            </p:cNvPr>
            <p:cNvGrpSpPr/>
            <p:nvPr/>
          </p:nvGrpSpPr>
          <p:grpSpPr>
            <a:xfrm>
              <a:off x="2958800" y="-900437"/>
              <a:ext cx="3206790" cy="9193179"/>
              <a:chOff x="203200" y="-505509"/>
              <a:chExt cx="1800303" cy="5161083"/>
            </a:xfrm>
          </p:grpSpPr>
          <p:sp>
            <p:nvSpPr>
              <p:cNvPr id="108" name="Freeform 6">
                <a:extLst>
                  <a:ext uri="{FF2B5EF4-FFF2-40B4-BE49-F238E27FC236}">
                    <a16:creationId xmlns:a16="http://schemas.microsoft.com/office/drawing/2014/main" id="{FD4E3668-AD8E-340B-96D5-F04E419AE50D}"/>
                  </a:ext>
                </a:extLst>
              </p:cNvPr>
              <p:cNvSpPr/>
              <p:nvPr/>
            </p:nvSpPr>
            <p:spPr>
              <a:xfrm>
                <a:off x="855265" y="-505509"/>
                <a:ext cx="1148238" cy="5161083"/>
              </a:xfrm>
              <a:custGeom>
                <a:avLst/>
                <a:gdLst/>
                <a:ahLst/>
                <a:cxnLst/>
                <a:rect l="l" t="t" r="r" b="b"/>
                <a:pathLst>
                  <a:path w="1148238" h="4136033">
                    <a:moveTo>
                      <a:pt x="574119" y="4136033"/>
                    </a:moveTo>
                    <a:lnTo>
                      <a:pt x="0" y="3729633"/>
                    </a:lnTo>
                    <a:lnTo>
                      <a:pt x="203200" y="3729633"/>
                    </a:lnTo>
                    <a:lnTo>
                      <a:pt x="203200" y="0"/>
                    </a:lnTo>
                    <a:lnTo>
                      <a:pt x="945038" y="0"/>
                    </a:lnTo>
                    <a:lnTo>
                      <a:pt x="945038" y="3729633"/>
                    </a:lnTo>
                    <a:lnTo>
                      <a:pt x="1148238" y="3729633"/>
                    </a:lnTo>
                    <a:lnTo>
                      <a:pt x="574119" y="4136033"/>
                    </a:lnTo>
                    <a:close/>
                  </a:path>
                </a:pathLst>
              </a:custGeom>
              <a:solidFill>
                <a:srgbClr val="F68D5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7">
                <a:extLst>
                  <a:ext uri="{FF2B5EF4-FFF2-40B4-BE49-F238E27FC236}">
                    <a16:creationId xmlns:a16="http://schemas.microsoft.com/office/drawing/2014/main" id="{2104A095-5ABF-279A-72F0-667598229ED6}"/>
                  </a:ext>
                </a:extLst>
              </p:cNvPr>
              <p:cNvSpPr txBox="1"/>
              <p:nvPr/>
            </p:nvSpPr>
            <p:spPr>
              <a:xfrm>
                <a:off x="203200" y="-38100"/>
                <a:ext cx="741838" cy="407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5" name="Group 8">
              <a:extLst>
                <a:ext uri="{FF2B5EF4-FFF2-40B4-BE49-F238E27FC236}">
                  <a16:creationId xmlns:a16="http://schemas.microsoft.com/office/drawing/2014/main" id="{98F4397D-AADE-F548-DDE7-579030784234}"/>
                </a:ext>
              </a:extLst>
            </p:cNvPr>
            <p:cNvGrpSpPr/>
            <p:nvPr/>
          </p:nvGrpSpPr>
          <p:grpSpPr>
            <a:xfrm>
              <a:off x="4698401" y="-67865"/>
              <a:ext cx="3544631" cy="6488146"/>
              <a:chOff x="203200" y="-38100"/>
              <a:chExt cx="1989968" cy="3642468"/>
            </a:xfrm>
          </p:grpSpPr>
          <p:sp>
            <p:nvSpPr>
              <p:cNvPr id="106" name="Freeform 9">
                <a:extLst>
                  <a:ext uri="{FF2B5EF4-FFF2-40B4-BE49-F238E27FC236}">
                    <a16:creationId xmlns:a16="http://schemas.microsoft.com/office/drawing/2014/main" id="{CA9B5187-7D2D-C467-7CA2-891B752FE3E4}"/>
                  </a:ext>
                </a:extLst>
              </p:cNvPr>
              <p:cNvSpPr/>
              <p:nvPr/>
            </p:nvSpPr>
            <p:spPr>
              <a:xfrm>
                <a:off x="1044930" y="-8567"/>
                <a:ext cx="1148238" cy="3612935"/>
              </a:xfrm>
              <a:custGeom>
                <a:avLst/>
                <a:gdLst/>
                <a:ahLst/>
                <a:cxnLst/>
                <a:rect l="l" t="t" r="r" b="b"/>
                <a:pathLst>
                  <a:path w="1148238" h="3612935">
                    <a:moveTo>
                      <a:pt x="574119" y="3612935"/>
                    </a:moveTo>
                    <a:lnTo>
                      <a:pt x="0" y="3206534"/>
                    </a:lnTo>
                    <a:lnTo>
                      <a:pt x="203200" y="3206534"/>
                    </a:lnTo>
                    <a:lnTo>
                      <a:pt x="203200" y="0"/>
                    </a:lnTo>
                    <a:lnTo>
                      <a:pt x="945038" y="0"/>
                    </a:lnTo>
                    <a:lnTo>
                      <a:pt x="945038" y="3206534"/>
                    </a:lnTo>
                    <a:lnTo>
                      <a:pt x="1148238" y="3206534"/>
                    </a:lnTo>
                    <a:lnTo>
                      <a:pt x="574119" y="3612935"/>
                    </a:lnTo>
                    <a:close/>
                  </a:path>
                </a:pathLst>
              </a:custGeom>
              <a:solidFill>
                <a:srgbClr val="BEC8DA"/>
              </a:solidFill>
            </p:spPr>
            <p:txBody>
              <a:bodyPr/>
              <a:lstStyle/>
              <a:p>
                <a:endParaRPr lang="en-US" u="sng"/>
              </a:p>
            </p:txBody>
          </p:sp>
          <p:sp>
            <p:nvSpPr>
              <p:cNvPr id="107" name="TextBox 10">
                <a:extLst>
                  <a:ext uri="{FF2B5EF4-FFF2-40B4-BE49-F238E27FC236}">
                    <a16:creationId xmlns:a16="http://schemas.microsoft.com/office/drawing/2014/main" id="{0D52C908-F372-36CE-95D8-69C43B714E5C}"/>
                  </a:ext>
                </a:extLst>
              </p:cNvPr>
              <p:cNvSpPr txBox="1"/>
              <p:nvPr/>
            </p:nvSpPr>
            <p:spPr>
              <a:xfrm>
                <a:off x="203200" y="-38100"/>
                <a:ext cx="741838" cy="35494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96" name="Group 11">
              <a:extLst>
                <a:ext uri="{FF2B5EF4-FFF2-40B4-BE49-F238E27FC236}">
                  <a16:creationId xmlns:a16="http://schemas.microsoft.com/office/drawing/2014/main" id="{59C0A019-6703-6EE7-0FCF-3081AD317BED}"/>
                </a:ext>
              </a:extLst>
            </p:cNvPr>
            <p:cNvGrpSpPr/>
            <p:nvPr/>
          </p:nvGrpSpPr>
          <p:grpSpPr>
            <a:xfrm>
              <a:off x="6316619" y="-1315431"/>
              <a:ext cx="3889977" cy="6638226"/>
              <a:chOff x="203200" y="-738488"/>
              <a:chExt cx="2183846" cy="3726724"/>
            </a:xfrm>
          </p:grpSpPr>
          <p:sp>
            <p:nvSpPr>
              <p:cNvPr id="104" name="Freeform 12">
                <a:extLst>
                  <a:ext uri="{FF2B5EF4-FFF2-40B4-BE49-F238E27FC236}">
                    <a16:creationId xmlns:a16="http://schemas.microsoft.com/office/drawing/2014/main" id="{C37D21C0-488D-2212-4D90-275B74F1F443}"/>
                  </a:ext>
                </a:extLst>
              </p:cNvPr>
              <p:cNvSpPr/>
              <p:nvPr/>
            </p:nvSpPr>
            <p:spPr>
              <a:xfrm>
                <a:off x="1238808" y="-738488"/>
                <a:ext cx="1148238" cy="3089836"/>
              </a:xfrm>
              <a:custGeom>
                <a:avLst/>
                <a:gdLst/>
                <a:ahLst/>
                <a:cxnLst/>
                <a:rect l="l" t="t" r="r" b="b"/>
                <a:pathLst>
                  <a:path w="1148238" h="3089836">
                    <a:moveTo>
                      <a:pt x="574119" y="3089836"/>
                    </a:moveTo>
                    <a:lnTo>
                      <a:pt x="0" y="2683436"/>
                    </a:lnTo>
                    <a:lnTo>
                      <a:pt x="203200" y="2683436"/>
                    </a:lnTo>
                    <a:lnTo>
                      <a:pt x="203200" y="0"/>
                    </a:lnTo>
                    <a:lnTo>
                      <a:pt x="945038" y="0"/>
                    </a:lnTo>
                    <a:lnTo>
                      <a:pt x="945038" y="2683436"/>
                    </a:lnTo>
                    <a:lnTo>
                      <a:pt x="1148238" y="2683436"/>
                    </a:lnTo>
                    <a:lnTo>
                      <a:pt x="574119" y="3089836"/>
                    </a:lnTo>
                    <a:close/>
                  </a:path>
                </a:pathLst>
              </a:custGeom>
              <a:solidFill>
                <a:srgbClr val="3C6198"/>
              </a:solidFill>
            </p:spPr>
            <p:txBody>
              <a:bodyPr/>
              <a:lstStyle/>
              <a:p>
                <a:endParaRPr lang="en-US" u="sng"/>
              </a:p>
            </p:txBody>
          </p:sp>
          <p:sp>
            <p:nvSpPr>
              <p:cNvPr id="105" name="TextBox 13">
                <a:extLst>
                  <a:ext uri="{FF2B5EF4-FFF2-40B4-BE49-F238E27FC236}">
                    <a16:creationId xmlns:a16="http://schemas.microsoft.com/office/drawing/2014/main" id="{A09E865A-AF55-E760-75AA-E2AFDE76BB75}"/>
                  </a:ext>
                </a:extLst>
              </p:cNvPr>
              <p:cNvSpPr txBox="1"/>
              <p:nvPr/>
            </p:nvSpPr>
            <p:spPr>
              <a:xfrm>
                <a:off x="203200" y="-38100"/>
                <a:ext cx="741838" cy="30263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7" name="Group 14">
              <a:extLst>
                <a:ext uri="{FF2B5EF4-FFF2-40B4-BE49-F238E27FC236}">
                  <a16:creationId xmlns:a16="http://schemas.microsoft.com/office/drawing/2014/main" id="{58C42956-9C7C-F00D-F548-D2593A321806}"/>
                </a:ext>
              </a:extLst>
            </p:cNvPr>
            <p:cNvGrpSpPr/>
            <p:nvPr/>
          </p:nvGrpSpPr>
          <p:grpSpPr>
            <a:xfrm>
              <a:off x="8018120" y="-1907072"/>
              <a:ext cx="4168801" cy="6298097"/>
              <a:chOff x="203200" y="-1070637"/>
              <a:chExt cx="2340379" cy="3535774"/>
            </a:xfrm>
          </p:grpSpPr>
          <p:sp>
            <p:nvSpPr>
              <p:cNvPr id="102" name="Freeform 15">
                <a:extLst>
                  <a:ext uri="{FF2B5EF4-FFF2-40B4-BE49-F238E27FC236}">
                    <a16:creationId xmlns:a16="http://schemas.microsoft.com/office/drawing/2014/main" id="{94F6F83E-0E45-1937-E80B-03CA5DD0DBF8}"/>
                  </a:ext>
                </a:extLst>
              </p:cNvPr>
              <p:cNvSpPr/>
              <p:nvPr/>
            </p:nvSpPr>
            <p:spPr>
              <a:xfrm>
                <a:off x="1395341" y="-1070637"/>
                <a:ext cx="1148238" cy="2566737"/>
              </a:xfrm>
              <a:custGeom>
                <a:avLst/>
                <a:gdLst/>
                <a:ahLst/>
                <a:cxnLst/>
                <a:rect l="l" t="t" r="r" b="b"/>
                <a:pathLst>
                  <a:path w="1148238" h="2566737">
                    <a:moveTo>
                      <a:pt x="574119" y="2566737"/>
                    </a:moveTo>
                    <a:lnTo>
                      <a:pt x="0" y="2160337"/>
                    </a:lnTo>
                    <a:lnTo>
                      <a:pt x="203200" y="2160337"/>
                    </a:lnTo>
                    <a:lnTo>
                      <a:pt x="203200" y="0"/>
                    </a:lnTo>
                    <a:lnTo>
                      <a:pt x="945038" y="0"/>
                    </a:lnTo>
                    <a:lnTo>
                      <a:pt x="945038" y="2160337"/>
                    </a:lnTo>
                    <a:lnTo>
                      <a:pt x="1148238" y="2160337"/>
                    </a:lnTo>
                    <a:lnTo>
                      <a:pt x="574119" y="2566737"/>
                    </a:lnTo>
                    <a:close/>
                  </a:path>
                </a:pathLst>
              </a:custGeom>
              <a:solidFill>
                <a:srgbClr val="122359"/>
              </a:solidFill>
            </p:spPr>
            <p:txBody>
              <a:bodyPr/>
              <a:lstStyle/>
              <a:p>
                <a:endParaRPr lang="en-US" u="sng"/>
              </a:p>
            </p:txBody>
          </p:sp>
          <p:sp>
            <p:nvSpPr>
              <p:cNvPr id="103" name="TextBox 16">
                <a:extLst>
                  <a:ext uri="{FF2B5EF4-FFF2-40B4-BE49-F238E27FC236}">
                    <a16:creationId xmlns:a16="http://schemas.microsoft.com/office/drawing/2014/main" id="{D77DC16F-483F-34D1-60A4-22A7FC80F1CE}"/>
                  </a:ext>
                </a:extLst>
              </p:cNvPr>
              <p:cNvSpPr txBox="1"/>
              <p:nvPr/>
            </p:nvSpPr>
            <p:spPr>
              <a:xfrm>
                <a:off x="203200" y="-38100"/>
                <a:ext cx="741838" cy="25032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8" name="TextBox 45">
              <a:extLst>
                <a:ext uri="{FF2B5EF4-FFF2-40B4-BE49-F238E27FC236}">
                  <a16:creationId xmlns:a16="http://schemas.microsoft.com/office/drawing/2014/main" id="{408FA574-D572-E112-39C1-467003754B08}"/>
                </a:ext>
              </a:extLst>
            </p:cNvPr>
            <p:cNvSpPr txBox="1"/>
            <p:nvPr/>
          </p:nvSpPr>
          <p:spPr>
            <a:xfrm>
              <a:off x="4673548" y="7079503"/>
              <a:ext cx="938785" cy="396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04</a:t>
              </a:r>
            </a:p>
          </p:txBody>
        </p:sp>
        <p:sp>
          <p:nvSpPr>
            <p:cNvPr id="99" name="TextBox 46">
              <a:extLst>
                <a:ext uri="{FF2B5EF4-FFF2-40B4-BE49-F238E27FC236}">
                  <a16:creationId xmlns:a16="http://schemas.microsoft.com/office/drawing/2014/main" id="{11C6D2C1-EA8C-538A-DDC1-612CBF8A7005}"/>
                </a:ext>
              </a:extLst>
            </p:cNvPr>
            <p:cNvSpPr txBox="1"/>
            <p:nvPr/>
          </p:nvSpPr>
          <p:spPr>
            <a:xfrm>
              <a:off x="6750988" y="5240006"/>
              <a:ext cx="938785" cy="419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u="sng" dirty="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  <p:sp>
          <p:nvSpPr>
            <p:cNvPr id="100" name="TextBox 47">
              <a:extLst>
                <a:ext uri="{FF2B5EF4-FFF2-40B4-BE49-F238E27FC236}">
                  <a16:creationId xmlns:a16="http://schemas.microsoft.com/office/drawing/2014/main" id="{EF711570-4366-FB63-25FF-44BC5C35BBEA}"/>
                </a:ext>
              </a:extLst>
            </p:cNvPr>
            <p:cNvSpPr txBox="1"/>
            <p:nvPr/>
          </p:nvSpPr>
          <p:spPr>
            <a:xfrm>
              <a:off x="8714554" y="3041027"/>
              <a:ext cx="938785" cy="419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u="sng" dirty="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  <p:sp>
          <p:nvSpPr>
            <p:cNvPr id="101" name="TextBox 48">
              <a:extLst>
                <a:ext uri="{FF2B5EF4-FFF2-40B4-BE49-F238E27FC236}">
                  <a16:creationId xmlns:a16="http://schemas.microsoft.com/office/drawing/2014/main" id="{C266C678-F98E-D763-9FD3-223B8EA3BB63}"/>
                </a:ext>
              </a:extLst>
            </p:cNvPr>
            <p:cNvSpPr txBox="1"/>
            <p:nvPr/>
          </p:nvSpPr>
          <p:spPr>
            <a:xfrm>
              <a:off x="10694878" y="1554920"/>
              <a:ext cx="938785" cy="419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u="sng" dirty="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F0550B7-F307-6C80-AE14-4BF6CFE9D71F}"/>
              </a:ext>
            </a:extLst>
          </p:cNvPr>
          <p:cNvGrpSpPr/>
          <p:nvPr/>
        </p:nvGrpSpPr>
        <p:grpSpPr>
          <a:xfrm>
            <a:off x="1992832" y="1952871"/>
            <a:ext cx="11757045" cy="6970862"/>
            <a:chOff x="2419643" y="2862616"/>
            <a:chExt cx="11757045" cy="697086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A3F051C-20FE-70E4-9795-F0AA03F52C0E}"/>
                </a:ext>
              </a:extLst>
            </p:cNvPr>
            <p:cNvGrpSpPr/>
            <p:nvPr/>
          </p:nvGrpSpPr>
          <p:grpSpPr>
            <a:xfrm>
              <a:off x="2419643" y="8912753"/>
              <a:ext cx="5654831" cy="920725"/>
              <a:chOff x="5309215" y="7211944"/>
              <a:chExt cx="5654831" cy="920725"/>
            </a:xfrm>
          </p:grpSpPr>
          <p:grpSp>
            <p:nvGrpSpPr>
              <p:cNvPr id="76" name="Group 20">
                <a:extLst>
                  <a:ext uri="{FF2B5EF4-FFF2-40B4-BE49-F238E27FC236}">
                    <a16:creationId xmlns:a16="http://schemas.microsoft.com/office/drawing/2014/main" id="{7EE66365-2011-C608-26C6-EBAA639E8A98}"/>
                  </a:ext>
                </a:extLst>
              </p:cNvPr>
              <p:cNvGrpSpPr/>
              <p:nvPr/>
            </p:nvGrpSpPr>
            <p:grpSpPr>
              <a:xfrm>
                <a:off x="5309215" y="7239767"/>
                <a:ext cx="157072" cy="892902"/>
                <a:chOff x="0" y="0"/>
                <a:chExt cx="41369" cy="235168"/>
              </a:xfrm>
            </p:grpSpPr>
            <p:sp>
              <p:nvSpPr>
                <p:cNvPr id="79" name="Freeform 21">
                  <a:extLst>
                    <a:ext uri="{FF2B5EF4-FFF2-40B4-BE49-F238E27FC236}">
                      <a16:creationId xmlns:a16="http://schemas.microsoft.com/office/drawing/2014/main" id="{AE86A314-AC34-5C92-5C53-5A4DB32635D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1369" cy="23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69" h="235168">
                      <a:moveTo>
                        <a:pt x="20684" y="0"/>
                      </a:moveTo>
                      <a:lnTo>
                        <a:pt x="20684" y="0"/>
                      </a:lnTo>
                      <a:cubicBezTo>
                        <a:pt x="26170" y="0"/>
                        <a:pt x="31431" y="2179"/>
                        <a:pt x="35310" y="6058"/>
                      </a:cubicBezTo>
                      <a:cubicBezTo>
                        <a:pt x="39189" y="9937"/>
                        <a:pt x="41369" y="15199"/>
                        <a:pt x="41369" y="20684"/>
                      </a:cubicBezTo>
                      <a:lnTo>
                        <a:pt x="41369" y="214483"/>
                      </a:lnTo>
                      <a:cubicBezTo>
                        <a:pt x="41369" y="225907"/>
                        <a:pt x="32108" y="235168"/>
                        <a:pt x="20684" y="235168"/>
                      </a:cubicBezTo>
                      <a:lnTo>
                        <a:pt x="20684" y="235168"/>
                      </a:lnTo>
                      <a:cubicBezTo>
                        <a:pt x="9261" y="235168"/>
                        <a:pt x="0" y="225907"/>
                        <a:pt x="0" y="214483"/>
                      </a:cubicBezTo>
                      <a:lnTo>
                        <a:pt x="0" y="20684"/>
                      </a:lnTo>
                      <a:cubicBezTo>
                        <a:pt x="0" y="9261"/>
                        <a:pt x="9261" y="0"/>
                        <a:pt x="20684" y="0"/>
                      </a:cubicBezTo>
                      <a:close/>
                    </a:path>
                  </a:pathLst>
                </a:custGeom>
                <a:solidFill>
                  <a:srgbClr val="F68D55"/>
                </a:solidFill>
                <a:ln cap="rnd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TextBox 22">
                  <a:extLst>
                    <a:ext uri="{FF2B5EF4-FFF2-40B4-BE49-F238E27FC236}">
                      <a16:creationId xmlns:a16="http://schemas.microsoft.com/office/drawing/2014/main" id="{57EF1B69-8D27-70BE-A594-0DAC26000F8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41369" cy="27326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52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  <p:sp>
            <p:nvSpPr>
              <p:cNvPr id="77" name="TextBox 36">
                <a:extLst>
                  <a:ext uri="{FF2B5EF4-FFF2-40B4-BE49-F238E27FC236}">
                    <a16:creationId xmlns:a16="http://schemas.microsoft.com/office/drawing/2014/main" id="{CFDF5918-723B-C167-4147-D8135B917A66}"/>
                  </a:ext>
                </a:extLst>
              </p:cNvPr>
              <p:cNvSpPr txBox="1"/>
              <p:nvPr/>
            </p:nvSpPr>
            <p:spPr>
              <a:xfrm>
                <a:off x="5668297" y="7582760"/>
                <a:ext cx="5295749" cy="4924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US" sz="1600" dirty="0"/>
                  <a:t>Trigger: New malicious domain in MISP Action: Auto block domain in Pi-hole Result: Domain blocked on all lab systems</a:t>
                </a:r>
                <a:endParaRPr lang="en-US" sz="1600" dirty="0">
                  <a:effectLst/>
                </a:endParaRPr>
              </a:p>
            </p:txBody>
          </p:sp>
          <p:sp>
            <p:nvSpPr>
              <p:cNvPr id="78" name="TextBox 37">
                <a:extLst>
                  <a:ext uri="{FF2B5EF4-FFF2-40B4-BE49-F238E27FC236}">
                    <a16:creationId xmlns:a16="http://schemas.microsoft.com/office/drawing/2014/main" id="{D72A40D4-1134-52D3-0789-72C556AC4B9B}"/>
                  </a:ext>
                </a:extLst>
              </p:cNvPr>
              <p:cNvSpPr txBox="1"/>
              <p:nvPr/>
            </p:nvSpPr>
            <p:spPr>
              <a:xfrm>
                <a:off x="5668297" y="7211944"/>
                <a:ext cx="5295749" cy="2769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US" dirty="0">
                    <a:latin typeface="Eras Bold ITC" panose="020B0907030504020204" pitchFamily="34" charset="0"/>
                  </a:rPr>
                  <a:t>MISP IOC → Pi-hole DNS Block</a:t>
                </a:r>
                <a:endParaRPr lang="en-US" dirty="0">
                  <a:effectLst/>
                  <a:latin typeface="Eras Bold ITC" panose="020B0907030504020204" pitchFamily="34" charset="0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C480534-D99E-9AB5-A6E5-F41EDC5FDAEB}"/>
                </a:ext>
              </a:extLst>
            </p:cNvPr>
            <p:cNvGrpSpPr/>
            <p:nvPr/>
          </p:nvGrpSpPr>
          <p:grpSpPr>
            <a:xfrm>
              <a:off x="6587096" y="4680992"/>
              <a:ext cx="5611938" cy="1109479"/>
              <a:chOff x="8993446" y="4960684"/>
              <a:chExt cx="5611938" cy="1109479"/>
            </a:xfrm>
          </p:grpSpPr>
          <p:grpSp>
            <p:nvGrpSpPr>
              <p:cNvPr id="82" name="Group 26">
                <a:extLst>
                  <a:ext uri="{FF2B5EF4-FFF2-40B4-BE49-F238E27FC236}">
                    <a16:creationId xmlns:a16="http://schemas.microsoft.com/office/drawing/2014/main" id="{6C441008-2F81-4CBF-52FD-7F7A64C4A0FB}"/>
                  </a:ext>
                </a:extLst>
              </p:cNvPr>
              <p:cNvGrpSpPr/>
              <p:nvPr/>
            </p:nvGrpSpPr>
            <p:grpSpPr>
              <a:xfrm>
                <a:off x="8993446" y="4967953"/>
                <a:ext cx="157072" cy="892902"/>
                <a:chOff x="0" y="0"/>
                <a:chExt cx="41369" cy="235168"/>
              </a:xfrm>
            </p:grpSpPr>
            <p:sp>
              <p:nvSpPr>
                <p:cNvPr id="85" name="Freeform 27">
                  <a:extLst>
                    <a:ext uri="{FF2B5EF4-FFF2-40B4-BE49-F238E27FC236}">
                      <a16:creationId xmlns:a16="http://schemas.microsoft.com/office/drawing/2014/main" id="{884B3F59-E169-1B81-04D9-5B1EEE9FA0A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1369" cy="23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69" h="235168">
                      <a:moveTo>
                        <a:pt x="20684" y="0"/>
                      </a:moveTo>
                      <a:lnTo>
                        <a:pt x="20684" y="0"/>
                      </a:lnTo>
                      <a:cubicBezTo>
                        <a:pt x="26170" y="0"/>
                        <a:pt x="31431" y="2179"/>
                        <a:pt x="35310" y="6058"/>
                      </a:cubicBezTo>
                      <a:cubicBezTo>
                        <a:pt x="39189" y="9937"/>
                        <a:pt x="41369" y="15199"/>
                        <a:pt x="41369" y="20684"/>
                      </a:cubicBezTo>
                      <a:lnTo>
                        <a:pt x="41369" y="214483"/>
                      </a:lnTo>
                      <a:cubicBezTo>
                        <a:pt x="41369" y="225907"/>
                        <a:pt x="32108" y="235168"/>
                        <a:pt x="20684" y="235168"/>
                      </a:cubicBezTo>
                      <a:lnTo>
                        <a:pt x="20684" y="235168"/>
                      </a:lnTo>
                      <a:cubicBezTo>
                        <a:pt x="9261" y="235168"/>
                        <a:pt x="0" y="225907"/>
                        <a:pt x="0" y="214483"/>
                      </a:cubicBezTo>
                      <a:lnTo>
                        <a:pt x="0" y="20684"/>
                      </a:lnTo>
                      <a:cubicBezTo>
                        <a:pt x="0" y="9261"/>
                        <a:pt x="9261" y="0"/>
                        <a:pt x="20684" y="0"/>
                      </a:cubicBezTo>
                      <a:close/>
                    </a:path>
                  </a:pathLst>
                </a:custGeom>
                <a:solidFill>
                  <a:srgbClr val="3C6198"/>
                </a:solidFill>
                <a:ln cap="rnd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TextBox 28">
                  <a:extLst>
                    <a:ext uri="{FF2B5EF4-FFF2-40B4-BE49-F238E27FC236}">
                      <a16:creationId xmlns:a16="http://schemas.microsoft.com/office/drawing/2014/main" id="{FD6BC364-77F0-DC89-E542-A65510B1820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41369" cy="27326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52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  <p:sp>
            <p:nvSpPr>
              <p:cNvPr id="83" name="TextBox 40">
                <a:extLst>
                  <a:ext uri="{FF2B5EF4-FFF2-40B4-BE49-F238E27FC236}">
                    <a16:creationId xmlns:a16="http://schemas.microsoft.com/office/drawing/2014/main" id="{7C9D08A4-B817-F332-3178-D52AA53EE38C}"/>
                  </a:ext>
                </a:extLst>
              </p:cNvPr>
              <p:cNvSpPr txBox="1"/>
              <p:nvPr/>
            </p:nvSpPr>
            <p:spPr>
              <a:xfrm>
                <a:off x="9309635" y="5331499"/>
                <a:ext cx="5295749" cy="73866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US" sz="1600" dirty="0"/>
                  <a:t>Trigger: </a:t>
                </a:r>
                <a:r>
                  <a:rPr lang="en-US" sz="1600" dirty="0" err="1"/>
                  <a:t>Wazuh</a:t>
                </a:r>
                <a:r>
                  <a:rPr lang="en-US" sz="1600" dirty="0"/>
                  <a:t> alert from Machine 4 honeypot Actions: Block on FortiGate + </a:t>
                </a:r>
                <a:r>
                  <a:rPr lang="en-US" sz="1600" dirty="0" err="1"/>
                  <a:t>OPNsense</a:t>
                </a:r>
                <a:r>
                  <a:rPr lang="en-US" sz="1600" dirty="0"/>
                  <a:t> + Add to MISP + Create </a:t>
                </a:r>
                <a:r>
                  <a:rPr lang="en-US" sz="1600" dirty="0" err="1"/>
                  <a:t>TheHive</a:t>
                </a:r>
                <a:r>
                  <a:rPr lang="en-US" sz="1600" dirty="0"/>
                  <a:t> case Result: Multi-layer blocking + IOC shared</a:t>
                </a:r>
                <a:endParaRPr lang="en-US" sz="1600" dirty="0">
                  <a:effectLst/>
                </a:endParaRPr>
              </a:p>
            </p:txBody>
          </p:sp>
          <p:sp>
            <p:nvSpPr>
              <p:cNvPr id="84" name="TextBox 41">
                <a:extLst>
                  <a:ext uri="{FF2B5EF4-FFF2-40B4-BE49-F238E27FC236}">
                    <a16:creationId xmlns:a16="http://schemas.microsoft.com/office/drawing/2014/main" id="{9E6DAB7A-0B24-D2DF-E30C-90ED693E6047}"/>
                  </a:ext>
                </a:extLst>
              </p:cNvPr>
              <p:cNvSpPr txBox="1"/>
              <p:nvPr/>
            </p:nvSpPr>
            <p:spPr>
              <a:xfrm>
                <a:off x="9309635" y="4960684"/>
                <a:ext cx="5295749" cy="2769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US" dirty="0">
                    <a:latin typeface="Eras Bold ITC" panose="020B0907030504020204" pitchFamily="34" charset="0"/>
                  </a:rPr>
                  <a:t>Honeypot Alert → Multi-Layer Block</a:t>
                </a:r>
                <a:endParaRPr lang="en-US" dirty="0">
                  <a:effectLst/>
                  <a:latin typeface="Eras Bold ITC" panose="020B090703050402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9B683E7-A02F-6128-F2D4-63FF843B4387}"/>
                </a:ext>
              </a:extLst>
            </p:cNvPr>
            <p:cNvGrpSpPr/>
            <p:nvPr/>
          </p:nvGrpSpPr>
          <p:grpSpPr>
            <a:xfrm>
              <a:off x="8556534" y="2862616"/>
              <a:ext cx="5620154" cy="916081"/>
              <a:chOff x="10520148" y="3835053"/>
              <a:chExt cx="5620154" cy="916081"/>
            </a:xfrm>
          </p:grpSpPr>
          <p:grpSp>
            <p:nvGrpSpPr>
              <p:cNvPr id="88" name="Group 29">
                <a:extLst>
                  <a:ext uri="{FF2B5EF4-FFF2-40B4-BE49-F238E27FC236}">
                    <a16:creationId xmlns:a16="http://schemas.microsoft.com/office/drawing/2014/main" id="{1CD02A86-5832-F070-A4CB-597974603F13}"/>
                  </a:ext>
                </a:extLst>
              </p:cNvPr>
              <p:cNvGrpSpPr/>
              <p:nvPr/>
            </p:nvGrpSpPr>
            <p:grpSpPr>
              <a:xfrm>
                <a:off x="10520148" y="3858232"/>
                <a:ext cx="157072" cy="892902"/>
                <a:chOff x="0" y="0"/>
                <a:chExt cx="41369" cy="235168"/>
              </a:xfrm>
            </p:grpSpPr>
            <p:sp>
              <p:nvSpPr>
                <p:cNvPr id="91" name="Freeform 30">
                  <a:extLst>
                    <a:ext uri="{FF2B5EF4-FFF2-40B4-BE49-F238E27FC236}">
                      <a16:creationId xmlns:a16="http://schemas.microsoft.com/office/drawing/2014/main" id="{18A7905C-F24F-74F5-61B8-D878276E935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1369" cy="23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69" h="235168">
                      <a:moveTo>
                        <a:pt x="20684" y="0"/>
                      </a:moveTo>
                      <a:lnTo>
                        <a:pt x="20684" y="0"/>
                      </a:lnTo>
                      <a:cubicBezTo>
                        <a:pt x="26170" y="0"/>
                        <a:pt x="31431" y="2179"/>
                        <a:pt x="35310" y="6058"/>
                      </a:cubicBezTo>
                      <a:cubicBezTo>
                        <a:pt x="39189" y="9937"/>
                        <a:pt x="41369" y="15199"/>
                        <a:pt x="41369" y="20684"/>
                      </a:cubicBezTo>
                      <a:lnTo>
                        <a:pt x="41369" y="214483"/>
                      </a:lnTo>
                      <a:cubicBezTo>
                        <a:pt x="41369" y="225907"/>
                        <a:pt x="32108" y="235168"/>
                        <a:pt x="20684" y="235168"/>
                      </a:cubicBezTo>
                      <a:lnTo>
                        <a:pt x="20684" y="235168"/>
                      </a:lnTo>
                      <a:cubicBezTo>
                        <a:pt x="9261" y="235168"/>
                        <a:pt x="0" y="225907"/>
                        <a:pt x="0" y="214483"/>
                      </a:cubicBezTo>
                      <a:lnTo>
                        <a:pt x="0" y="20684"/>
                      </a:lnTo>
                      <a:cubicBezTo>
                        <a:pt x="0" y="9261"/>
                        <a:pt x="9261" y="0"/>
                        <a:pt x="20684" y="0"/>
                      </a:cubicBezTo>
                      <a:close/>
                    </a:path>
                  </a:pathLst>
                </a:custGeom>
                <a:solidFill>
                  <a:srgbClr val="122359"/>
                </a:solidFill>
                <a:ln cap="rnd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TextBox 31">
                  <a:extLst>
                    <a:ext uri="{FF2B5EF4-FFF2-40B4-BE49-F238E27FC236}">
                      <a16:creationId xmlns:a16="http://schemas.microsoft.com/office/drawing/2014/main" id="{E9B4E1BC-7B07-60FE-D9AE-2ED8660E52A3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41369" cy="273268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252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  <p:sp>
            <p:nvSpPr>
              <p:cNvPr id="89" name="TextBox 42">
                <a:extLst>
                  <a:ext uri="{FF2B5EF4-FFF2-40B4-BE49-F238E27FC236}">
                    <a16:creationId xmlns:a16="http://schemas.microsoft.com/office/drawing/2014/main" id="{1023EDB1-9BE5-03C8-3149-92DAC927A8E1}"/>
                  </a:ext>
                </a:extLst>
              </p:cNvPr>
              <p:cNvSpPr txBox="1"/>
              <p:nvPr/>
            </p:nvSpPr>
            <p:spPr>
              <a:xfrm>
                <a:off x="10844553" y="4205869"/>
                <a:ext cx="5081247" cy="4924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1600" dirty="0"/>
                  <a:t>Trigger: </a:t>
                </a:r>
                <a:r>
                  <a:rPr lang="en-US" sz="1600" dirty="0" err="1"/>
                  <a:t>Wazuh</a:t>
                </a:r>
                <a:r>
                  <a:rPr lang="en-US" sz="1600" dirty="0"/>
                  <a:t> alert (level ≥ 10) Action: Block IP via FortiGate API Result: IP blocked in under 2 seconds</a:t>
                </a:r>
                <a:endParaRPr lang="en-US" sz="1600" dirty="0">
                  <a:effectLst/>
                </a:endParaRPr>
              </a:p>
            </p:txBody>
          </p:sp>
          <p:sp>
            <p:nvSpPr>
              <p:cNvPr id="90" name="TextBox 43">
                <a:extLst>
                  <a:ext uri="{FF2B5EF4-FFF2-40B4-BE49-F238E27FC236}">
                    <a16:creationId xmlns:a16="http://schemas.microsoft.com/office/drawing/2014/main" id="{E92912B2-F3EC-A4D4-688B-A2C9A21BC0CC}"/>
                  </a:ext>
                </a:extLst>
              </p:cNvPr>
              <p:cNvSpPr txBox="1"/>
              <p:nvPr/>
            </p:nvSpPr>
            <p:spPr>
              <a:xfrm>
                <a:off x="10844553" y="3835053"/>
                <a:ext cx="5295749" cy="2769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US" dirty="0" err="1">
                    <a:latin typeface="Eras Bold ITC" panose="020B0907030504020204" pitchFamily="34" charset="0"/>
                  </a:rPr>
                  <a:t>Wazuh</a:t>
                </a:r>
                <a:r>
                  <a:rPr lang="en-US" dirty="0">
                    <a:latin typeface="Eras Bold ITC" panose="020B0907030504020204" pitchFamily="34" charset="0"/>
                  </a:rPr>
                  <a:t> Critical Alert → FortiGate Block</a:t>
                </a:r>
                <a:endParaRPr lang="en-US" dirty="0">
                  <a:effectLst/>
                  <a:latin typeface="Eras Bold ITC" panose="020B0907030504020204" pitchFamily="34" charset="0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12EF65A3-FD0A-DE47-2AFC-7C8ED6C26ED1}"/>
                </a:ext>
              </a:extLst>
            </p:cNvPr>
            <p:cNvGrpSpPr/>
            <p:nvPr/>
          </p:nvGrpSpPr>
          <p:grpSpPr>
            <a:xfrm>
              <a:off x="4623530" y="6697192"/>
              <a:ext cx="5633384" cy="1454568"/>
              <a:chOff x="8225890" y="7088716"/>
              <a:chExt cx="5633384" cy="145456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9B55E641-B7BB-348A-4D6D-D691C60489A7}"/>
                  </a:ext>
                </a:extLst>
              </p:cNvPr>
              <p:cNvGrpSpPr/>
              <p:nvPr/>
            </p:nvGrpSpPr>
            <p:grpSpPr>
              <a:xfrm>
                <a:off x="8225890" y="7088716"/>
                <a:ext cx="5633384" cy="910448"/>
                <a:chOff x="7151331" y="6086314"/>
                <a:chExt cx="5633384" cy="910448"/>
              </a:xfrm>
            </p:grpSpPr>
            <p:grpSp>
              <p:nvGrpSpPr>
                <p:cNvPr id="113" name="Group 23">
                  <a:extLst>
                    <a:ext uri="{FF2B5EF4-FFF2-40B4-BE49-F238E27FC236}">
                      <a16:creationId xmlns:a16="http://schemas.microsoft.com/office/drawing/2014/main" id="{D7B89A1E-EDF2-AE60-E724-9C980E1DC83B}"/>
                    </a:ext>
                  </a:extLst>
                </p:cNvPr>
                <p:cNvGrpSpPr/>
                <p:nvPr/>
              </p:nvGrpSpPr>
              <p:grpSpPr>
                <a:xfrm>
                  <a:off x="7151331" y="6103860"/>
                  <a:ext cx="157072" cy="892902"/>
                  <a:chOff x="0" y="0"/>
                  <a:chExt cx="41369" cy="235168"/>
                </a:xfrm>
              </p:grpSpPr>
              <p:sp>
                <p:nvSpPr>
                  <p:cNvPr id="115" name="Freeform 24">
                    <a:extLst>
                      <a:ext uri="{FF2B5EF4-FFF2-40B4-BE49-F238E27FC236}">
                        <a16:creationId xmlns:a16="http://schemas.microsoft.com/office/drawing/2014/main" id="{DB8ADDF3-8D96-C86F-300F-D518074451B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1369" cy="235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369" h="235168">
                        <a:moveTo>
                          <a:pt x="20684" y="0"/>
                        </a:moveTo>
                        <a:lnTo>
                          <a:pt x="20684" y="0"/>
                        </a:lnTo>
                        <a:cubicBezTo>
                          <a:pt x="26170" y="0"/>
                          <a:pt x="31431" y="2179"/>
                          <a:pt x="35310" y="6058"/>
                        </a:cubicBezTo>
                        <a:cubicBezTo>
                          <a:pt x="39189" y="9937"/>
                          <a:pt x="41369" y="15199"/>
                          <a:pt x="41369" y="20684"/>
                        </a:cubicBezTo>
                        <a:lnTo>
                          <a:pt x="41369" y="214483"/>
                        </a:lnTo>
                        <a:cubicBezTo>
                          <a:pt x="41369" y="225907"/>
                          <a:pt x="32108" y="235168"/>
                          <a:pt x="20684" y="235168"/>
                        </a:cubicBezTo>
                        <a:lnTo>
                          <a:pt x="20684" y="235168"/>
                        </a:lnTo>
                        <a:cubicBezTo>
                          <a:pt x="9261" y="235168"/>
                          <a:pt x="0" y="225907"/>
                          <a:pt x="0" y="214483"/>
                        </a:cubicBezTo>
                        <a:lnTo>
                          <a:pt x="0" y="20684"/>
                        </a:lnTo>
                        <a:cubicBezTo>
                          <a:pt x="0" y="9261"/>
                          <a:pt x="9261" y="0"/>
                          <a:pt x="20684" y="0"/>
                        </a:cubicBezTo>
                        <a:close/>
                      </a:path>
                    </a:pathLst>
                  </a:custGeom>
                  <a:solidFill>
                    <a:srgbClr val="BEC8DA"/>
                  </a:solidFill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6" name="TextBox 25">
                    <a:extLst>
                      <a:ext uri="{FF2B5EF4-FFF2-40B4-BE49-F238E27FC236}">
                        <a16:creationId xmlns:a16="http://schemas.microsoft.com/office/drawing/2014/main" id="{86244ABA-E699-C10F-9DF3-911F240F9AD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41369" cy="273268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marL="0" lvl="0" indent="0" algn="ctr">
                      <a:lnSpc>
                        <a:spcPts val="2520"/>
                      </a:lnSpc>
                      <a:spcBef>
                        <a:spcPct val="0"/>
                      </a:spcBef>
                    </a:pPr>
                    <a:endParaRPr/>
                  </a:p>
                </p:txBody>
              </p:sp>
            </p:grpSp>
            <p:sp>
              <p:nvSpPr>
                <p:cNvPr id="114" name="TextBox 39">
                  <a:extLst>
                    <a:ext uri="{FF2B5EF4-FFF2-40B4-BE49-F238E27FC236}">
                      <a16:creationId xmlns:a16="http://schemas.microsoft.com/office/drawing/2014/main" id="{E7D221F8-D0C7-60EE-5BDA-86A51C6E37C6}"/>
                    </a:ext>
                  </a:extLst>
                </p:cNvPr>
                <p:cNvSpPr txBox="1"/>
                <p:nvPr/>
              </p:nvSpPr>
              <p:spPr>
                <a:xfrm>
                  <a:off x="7488966" y="6086314"/>
                  <a:ext cx="5295749" cy="276999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r>
                    <a:rPr lang="en-US" dirty="0">
                      <a:latin typeface="Eras Bold ITC" panose="020B0907030504020204" pitchFamily="34" charset="0"/>
                    </a:rPr>
                    <a:t>Critical Alert → </a:t>
                  </a:r>
                  <a:r>
                    <a:rPr lang="en-US" dirty="0" err="1">
                      <a:latin typeface="Eras Bold ITC" panose="020B0907030504020204" pitchFamily="34" charset="0"/>
                    </a:rPr>
                    <a:t>TheHive</a:t>
                  </a:r>
                  <a:r>
                    <a:rPr lang="en-US" dirty="0">
                      <a:latin typeface="Eras Bold ITC" panose="020B0907030504020204" pitchFamily="34" charset="0"/>
                    </a:rPr>
                    <a:t> Case</a:t>
                  </a:r>
                  <a:endParaRPr lang="en-US" dirty="0">
                    <a:effectLst/>
                    <a:latin typeface="Eras Bold ITC" panose="020B0907030504020204" pitchFamily="34" charset="0"/>
                  </a:endParaRPr>
                </a:p>
              </p:txBody>
            </p: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821ADC3-8445-74D4-D5AB-D793C1F7BF66}"/>
                  </a:ext>
                </a:extLst>
              </p:cNvPr>
              <p:cNvSpPr txBox="1"/>
              <p:nvPr/>
            </p:nvSpPr>
            <p:spPr>
              <a:xfrm>
                <a:off x="8627813" y="7342955"/>
                <a:ext cx="419595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Trigger: High severity </a:t>
                </a:r>
                <a:r>
                  <a:rPr lang="en-US" dirty="0" err="1"/>
                  <a:t>Wazuh</a:t>
                </a:r>
                <a:r>
                  <a:rPr lang="en-US" dirty="0"/>
                  <a:t> alert Action: Auto-create </a:t>
                </a:r>
                <a:r>
                  <a:rPr lang="en-US" dirty="0" err="1"/>
                  <a:t>TheHive</a:t>
                </a:r>
                <a:r>
                  <a:rPr lang="en-US" dirty="0"/>
                  <a:t> case Auto Enrichment: Cortex (</a:t>
                </a:r>
                <a:r>
                  <a:rPr lang="en-US" dirty="0" err="1"/>
                  <a:t>AbuseIPDB</a:t>
                </a:r>
                <a:r>
                  <a:rPr lang="en-US" dirty="0"/>
                  <a:t> + </a:t>
                </a:r>
                <a:r>
                  <a:rPr lang="en-US" dirty="0" err="1"/>
                  <a:t>GeoIP</a:t>
                </a:r>
                <a:r>
                  <a:rPr lang="en-US" dirty="0"/>
                  <a:t>) Result: Case created with full context</a:t>
                </a:r>
                <a:endParaRPr lang="en-US" dirty="0">
                  <a:effectLst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7802018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8E5F-F1AD-B1E8-16D0-2D6502D8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workdir/attachments/Screenshot 2026-05-21 104859.png">
            <a:extLst>
              <a:ext uri="{FF2B5EF4-FFF2-40B4-BE49-F238E27FC236}">
                <a16:creationId xmlns:a16="http://schemas.microsoft.com/office/drawing/2014/main" id="{F4D065B6-34ED-98DF-73C5-90C974CA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7846" y="836710"/>
            <a:ext cx="11380573" cy="5437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C54B8A-0920-1D0F-092B-74C597ABD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095" y="4400220"/>
            <a:ext cx="7785059" cy="4724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F89CA-7553-DA12-FDD3-E184F0520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1083" y="4400220"/>
            <a:ext cx="2437071" cy="4558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6DA7A-1774-59D8-D393-6E7BE8E98CB4}"/>
              </a:ext>
            </a:extLst>
          </p:cNvPr>
          <p:cNvSpPr txBox="1"/>
          <p:nvPr/>
        </p:nvSpPr>
        <p:spPr>
          <a:xfrm>
            <a:off x="4942702" y="103485"/>
            <a:ext cx="8130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Eras Bold ITC" panose="020B0907030504020204" pitchFamily="34" charset="0"/>
                <a:ea typeface="Arial" pitchFamily="34" charset="-122"/>
                <a:cs typeface="Arial" pitchFamily="34" charset="-120"/>
              </a:rPr>
              <a:t>Shuffle SOAR — Automated Response Workflows</a:t>
            </a:r>
            <a:endParaRPr lang="en-US" sz="24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403243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494A-4CB5-6CB2-6367-72D628EB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338EF-5DAC-FC4B-B924-D389B590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96" y="-121920"/>
            <a:ext cx="16259695" cy="9380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D847D-D576-6B4A-D0BB-4287C00E5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844" y="12526"/>
            <a:ext cx="6243326" cy="93649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4237A3-BA53-58BF-1FA3-64CBC1FB8CFF}"/>
              </a:ext>
            </a:extLst>
          </p:cNvPr>
          <p:cNvSpPr txBox="1"/>
          <p:nvPr/>
        </p:nvSpPr>
        <p:spPr>
          <a:xfrm>
            <a:off x="-22578" y="1049867"/>
            <a:ext cx="812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800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80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ybersecurity tools stack overview">
            <a:extLst>
              <a:ext uri="{FF2B5EF4-FFF2-40B4-BE49-F238E27FC236}">
                <a16:creationId xmlns:a16="http://schemas.microsoft.com/office/drawing/2014/main" id="{BC009CFC-DD91-0823-E657-1E7D31EBB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61"/>
            <a:ext cx="16256000" cy="914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C7CBE8-6D2A-55EF-5AE0-A1294131DDDB}"/>
              </a:ext>
            </a:extLst>
          </p:cNvPr>
          <p:cNvSpPr/>
          <p:nvPr/>
        </p:nvSpPr>
        <p:spPr>
          <a:xfrm>
            <a:off x="420130" y="284205"/>
            <a:ext cx="1272746" cy="2594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811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0768" y="12192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56" b="1" dirty="0">
                <a:latin typeface="Eras Bold ITC" panose="020B0907030504020204" pitchFamily="34" charset="0"/>
                <a:ea typeface="Arial" pitchFamily="34" charset="-122"/>
                <a:cs typeface="Arial" pitchFamily="34" charset="-120"/>
              </a:rPr>
              <a:t>Dark Web Threat Intelligence — CTI Project ZeroTrust</a:t>
            </a:r>
            <a:endParaRPr lang="en-US" sz="3556" dirty="0">
              <a:latin typeface="Eras Bold ITC" panose="020B0907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49373" y="857834"/>
            <a:ext cx="14630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311" dirty="0">
                <a:latin typeface="Aharoni" panose="02010803020104030203" pitchFamily="2" charset="-79"/>
                <a:ea typeface="Arial" pitchFamily="34" charset="-122"/>
                <a:cs typeface="Aharoni" panose="02010803020104030203" pitchFamily="2" charset="-79"/>
              </a:rPr>
              <a:t>Powered by Llama-3.3-70b-nvidia (Local Ollama) + Custom Scraping Engine</a:t>
            </a:r>
            <a:endParaRPr lang="en-US" sz="231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Image 0" descr="/home/workdir/attachments/2026-05-21_07-4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9929" y="1383183"/>
            <a:ext cx="10942320" cy="57723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Image 1" descr="/home/workdir/attachments/2026-05-21_07-4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736" y="3890406"/>
            <a:ext cx="9601200" cy="48212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638" y="812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56" b="1" dirty="0">
                <a:latin typeface="Eras Bold ITC" panose="020B0907030504020204" pitchFamily="34" charset="0"/>
                <a:ea typeface="Arial" pitchFamily="34" charset="-122"/>
                <a:cs typeface="Arial" pitchFamily="34" charset="-120"/>
              </a:rPr>
              <a:t>Dark Web Analysis — Key Insights (Wanacry Ransomware)</a:t>
            </a:r>
            <a:endParaRPr lang="en-US" sz="3556" dirty="0">
              <a:latin typeface="Eras Bold ITC" panose="020B0907030504020204" pitchFamily="34" charset="0"/>
            </a:endParaRPr>
          </a:p>
        </p:txBody>
      </p:sp>
      <p:pic>
        <p:nvPicPr>
          <p:cNvPr id="8" name="Image 0" descr="/home/workdir/attachments/2026-05-21_07-4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638" y="4785894"/>
            <a:ext cx="12400547" cy="40337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CA6D22-312C-B962-8158-4C71F4C36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826" y="1016275"/>
            <a:ext cx="9017732" cy="41832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2495CA9-0081-AB53-55AD-1BD41720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966" y="0"/>
            <a:ext cx="16663931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4B33-C1FF-471D-BD7E-0349E3D1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607310-5286-0C9A-6930-7627A742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617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261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A5BA4FC0-1628-711C-C29C-37B0E65DB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5" y="0"/>
            <a:ext cx="16259695" cy="93801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B8510F1-04BB-F9EF-8309-A720E34DE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859" y="-5520"/>
            <a:ext cx="14070150" cy="9380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3590" y="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latin typeface="Eras Bold ITC" panose="020B0907030504020204" pitchFamily="34" charset="0"/>
              </a:rPr>
              <a:t>Honeypot Network Configuration</a:t>
            </a:r>
            <a:endParaRPr lang="en-US" sz="3200" dirty="0">
              <a:effectLst/>
              <a:latin typeface="Eras Bold ITC" panose="020B0907030504020204" pitchFamily="34" charset="0"/>
            </a:endParaRPr>
          </a:p>
        </p:txBody>
      </p:sp>
      <p:pic>
        <p:nvPicPr>
          <p:cNvPr id="3" name="Image 0" descr="/home/workdir/attachments/Screenshot 2026-05-23 0703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2075" y="3207006"/>
            <a:ext cx="6436293" cy="38304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 1" descr="/home/workdir/attachments/Screenshot 2026-05-23 07062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0544" y="1435532"/>
            <a:ext cx="8508587" cy="35429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Image 2" descr="/home/workdir/attachments/Screenshot 2026-05-23 07151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0544" y="5113532"/>
            <a:ext cx="7032463" cy="38304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D78D93-0288-6558-3192-5AF2EC2EA2A2}"/>
              </a:ext>
            </a:extLst>
          </p:cNvPr>
          <p:cNvSpPr txBox="1"/>
          <p:nvPr/>
        </p:nvSpPr>
        <p:spPr>
          <a:xfrm>
            <a:off x="5716440" y="628134"/>
            <a:ext cx="9951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OpenCanary</a:t>
            </a:r>
            <a:r>
              <a:rPr lang="en-US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, Deception VM &amp; Tor Honeypot Network Setup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2F7BF2C-B65F-0B0E-519F-08DBDFFB8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43" y="1047149"/>
            <a:ext cx="10362100" cy="47326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2F9676-D4D9-B406-73B9-12EA055C435D}"/>
              </a:ext>
            </a:extLst>
          </p:cNvPr>
          <p:cNvSpPr txBox="1"/>
          <p:nvPr/>
        </p:nvSpPr>
        <p:spPr>
          <a:xfrm>
            <a:off x="152374" y="63944"/>
            <a:ext cx="9341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effectLst/>
                <a:latin typeface="Eras Bold ITC" panose="020B0907030504020204" pitchFamily="34" charset="0"/>
              </a:rPr>
              <a:t>Wazuh</a:t>
            </a:r>
            <a:r>
              <a:rPr lang="en-US" sz="3200" dirty="0">
                <a:effectLst/>
                <a:latin typeface="Eras Bold ITC" panose="020B0907030504020204" pitchFamily="34" charset="0"/>
              </a:rPr>
              <a:t> Agents – Machine 4 Honeypots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F35D8-ABCC-11E9-2426-94A7D69C10CD}"/>
              </a:ext>
            </a:extLst>
          </p:cNvPr>
          <p:cNvSpPr txBox="1"/>
          <p:nvPr/>
        </p:nvSpPr>
        <p:spPr>
          <a:xfrm>
            <a:off x="1643449" y="648719"/>
            <a:ext cx="813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Deception Plane Integration with Centralized SIEM Monitoring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F7EBE4-1196-23D9-784E-F355FE00E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74" y="5470543"/>
            <a:ext cx="7706524" cy="3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80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AC5BF-8DEE-78AE-B9E3-49F0E30A9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AC508C-0C6C-51AD-E26B-8A2C236B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26464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420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855587C-4BCF-F1FE-E552-3A9B5AB1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5" y="-118050"/>
            <a:ext cx="16259695" cy="9380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834731-8131-E6DF-B488-7946E2D1B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981" y="-118050"/>
            <a:ext cx="14070150" cy="9380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B5A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2FCB6D-1907-E28F-00C5-32D0A6F40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889" y="857956"/>
            <a:ext cx="11128222" cy="74280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3480FF3-1E7C-F6E5-0D32-094743093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5" y="12357"/>
            <a:ext cx="16259695" cy="9380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C20A53-BA8C-7DB9-B493-245D7F517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" y="295275"/>
            <a:ext cx="16125825" cy="88487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3994F1DD-BCDC-8375-6470-49CCE6EC4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5" y="12357"/>
            <a:ext cx="16259695" cy="9380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4A1B1C0-8ECC-1227-3372-9FE67E284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676" y="0"/>
            <a:ext cx="13530647" cy="902043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1120</Words>
  <Application>Microsoft Office PowerPoint</Application>
  <PresentationFormat>Custom</PresentationFormat>
  <Paragraphs>206</Paragraphs>
  <Slides>70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Eras Bold ITC</vt:lpstr>
      <vt:lpstr>Arial</vt:lpstr>
      <vt:lpstr>TT Fors Bold</vt:lpstr>
      <vt:lpstr>Hadassah Friedlaender</vt:lpstr>
      <vt:lpstr>Book Antiqua</vt:lpstr>
      <vt:lpstr>Aharoni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UTM Security Lab</dc:title>
  <dc:subject>Zero Trust UTM Security Lab</dc:subject>
  <dc:creator>Kimi</dc:creator>
  <cp:lastModifiedBy>Abdul Wahid</cp:lastModifiedBy>
  <cp:revision>56</cp:revision>
  <dcterms:created xsi:type="dcterms:W3CDTF">2026-05-21T09:38:37Z</dcterms:created>
  <dcterms:modified xsi:type="dcterms:W3CDTF">2026-05-31T15:29:52Z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{"Label":"Zero Trust UTM Security Lab","ContentProducer":"001191110108MACG2KBH8F10000","ProduceID":"19e499f8-b542-830d-8000-00005064a481","ReservedCode1":"","ContentPropagator":"001191110108MACG2KBH8F20000","PropagateID":"19e499f8-b542-830d-8000-00005064a481","ReservedCode2":""}</vt:lpwstr>
  </property>
</Properties>
</file>